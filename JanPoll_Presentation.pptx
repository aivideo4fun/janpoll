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a:t>
            </a:r>
          </a:p>
          <a:p/>
          <a:p>
            <a:r>
              <a:t>नमस्कार दोस्तों! क्या आप जानते हैं कि इस बार राजस्थान की हर ग्राम पंचायत, पंचायत समिति और जिला परिषद के चुनावों में असल माहौल क्या चल रहा है? आइए जानते हैं एक बहुत ही शानदार डिजिटल प्लेटफॉर्म के बारे में जिसका नाम है— JanPoll.in।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a:t>
            </a:r>
          </a:p>
          <a:p/>
          <a:p>
            <a:r>
              <a:t>अक्सर चुनाव के समय चर्चाएं सिर्फ चाय की थड़ियों या चौपालों तक सीमित रह जाती हैं। हमें यह पता ही नहीं चल पाता कि असल में आम जनता या हमारे गाँव के लोग क्या सोच रहे हैं। इसी समस्या का समाधान लेकर आया है JanPoll।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a:t>
            </a:r>
          </a:p>
          <a:p/>
          <a:p>
            <a:r>
              <a:t>JanPoll राजस्थान की सबसे भरोसेमंद डिजिटल पब्लिक ओपिनियन और पोलिंग वेबसाइट है। यहाँ राज्य के स्थानीय मुद्दों, ग्राम पंचायत, सरपंच चुनाव और राजनीतिक विषयों पर ऑनलाइन वोटिंग की जाती है और जनता का सटीक मत सामने आता 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a:t>
            </a:r>
          </a:p>
          <a:p/>
          <a:p>
            <a:r>
              <a:t>इसकी सबसे बड़ी खूबी यह है कि इसमें त्रि-स्तरीय पंचायत राज व्यवस्था यानी जिला परिषद, पंचायत समिति और ग्राम पंचायत तक का पूरा डेटा मौजूद है। आप अपनी खुद की पंचायत का पोल देख भी सकते हैं और अगर चाहें, तो अपना नया पोल खुद तुरंत बना भी सकते 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a:t>
            </a:r>
          </a:p>
          <a:p/>
          <a:p>
            <a:r>
              <a:t>यहाँ पोल बनाना बेहद आसान है। आपको बस अपने गूगल (Google) अकाउंट से सुरक्षित लॉगिन करना है, अपने सवाल और विकल्प डालने हैं, और आपका डिजिटल पोल लाइव हो जाता है। कोई भी फर्जी मतदान न हो, इसके लिए यह पूरी तरह से सुरक्षित तकनीक पर काम करता 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a:t>
            </a:r>
          </a:p>
          <a:p/>
          <a:p>
            <a:r>
              <a:t>तो देर किस बात की? आज ही विजिट करें JanPoll.in पर, अपने स्थानीय मुद्दों और चुनावों पर अपना वोट दें, और देखें कि आपकी जनता क्या सोचती है। वीडियो देखने के लिए बहुत-बहुत धन्यवाद!</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anpoll.in" TargetMode="External"/><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863840" y="-1463040"/>
            <a:ext cx="5943600" cy="5943600"/>
          </a:xfrm>
          <a:prstGeom prst="ellipse">
            <a:avLst/>
          </a:prstGeom>
          <a:solidFill>
            <a:srgbClr val="0F6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846320"/>
            <a:ext cx="3291840" cy="3291840"/>
          </a:xfrm>
          <a:prstGeom prst="ellipse">
            <a:avLst/>
          </a:prstGeom>
          <a:solidFill>
            <a:srgbClr val="0F6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594360"/>
            <a:ext cx="2377440" cy="5943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800" b="1">
                <a:solidFill>
                  <a:srgbClr val="0B5D3B"/>
                </a:solidFill>
                <a:latin typeface="Nirmala UI"/>
                <a:ea typeface="Nirmala UI"/>
                <a:cs typeface="Nirmala UI"/>
              </a:rPr>
              <a:t>🗳️ JanPoll.in</a:t>
            </a:r>
          </a:p>
        </p:txBody>
      </p:sp>
      <p:sp>
        <p:nvSpPr>
          <p:cNvPr id="6" name="TextBox 5"/>
          <p:cNvSpPr txBox="1"/>
          <p:nvPr/>
        </p:nvSpPr>
        <p:spPr>
          <a:xfrm>
            <a:off x="731520" y="1828800"/>
            <a:ext cx="6858000" cy="1188720"/>
          </a:xfrm>
          <a:prstGeom prst="rect">
            <a:avLst/>
          </a:prstGeom>
          <a:noFill/>
        </p:spPr>
        <p:txBody>
          <a:bodyPr wrap="square" anchor="t">
            <a:spAutoFit/>
          </a:bodyPr>
          <a:lstStyle/>
          <a:p>
            <a:pPr algn="l">
              <a:lnSpc>
                <a:spcPct val="115000"/>
              </a:lnSpc>
            </a:pPr>
            <a:r>
              <a:rPr sz="6600" b="1">
                <a:solidFill>
                  <a:srgbClr val="FFFFFF"/>
                </a:solidFill>
                <a:latin typeface="Nirmala UI"/>
                <a:ea typeface="Nirmala UI"/>
                <a:cs typeface="Nirmala UI"/>
              </a:rPr>
              <a:t>JanPoll.in</a:t>
            </a:r>
          </a:p>
        </p:txBody>
      </p:sp>
      <p:sp>
        <p:nvSpPr>
          <p:cNvPr id="7" name="Rectangle 6"/>
          <p:cNvSpPr/>
          <p:nvPr/>
        </p:nvSpPr>
        <p:spPr>
          <a:xfrm>
            <a:off x="822960" y="3017520"/>
            <a:ext cx="128016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6858000" cy="731520"/>
          </a:xfrm>
          <a:prstGeom prst="rect">
            <a:avLst/>
          </a:prstGeom>
          <a:noFill/>
        </p:spPr>
        <p:txBody>
          <a:bodyPr wrap="square" anchor="t">
            <a:spAutoFit/>
          </a:bodyPr>
          <a:lstStyle/>
          <a:p>
            <a:pPr algn="l">
              <a:lnSpc>
                <a:spcPct val="115000"/>
              </a:lnSpc>
            </a:pPr>
            <a:r>
              <a:rPr sz="3000" b="1">
                <a:solidFill>
                  <a:srgbClr val="F59E0B"/>
                </a:solidFill>
                <a:latin typeface="Nirmala UI"/>
                <a:ea typeface="Nirmala UI"/>
                <a:cs typeface="Nirmala UI"/>
              </a:rPr>
              <a:t>राजस्थान की आवाज़, अब डिजिटल!</a:t>
            </a:r>
          </a:p>
        </p:txBody>
      </p:sp>
      <p:sp>
        <p:nvSpPr>
          <p:cNvPr id="9" name="TextBox 8"/>
          <p:cNvSpPr txBox="1"/>
          <p:nvPr/>
        </p:nvSpPr>
        <p:spPr>
          <a:xfrm>
            <a:off x="731520" y="4023360"/>
            <a:ext cx="6858000" cy="548640"/>
          </a:xfrm>
          <a:prstGeom prst="rect">
            <a:avLst/>
          </a:prstGeom>
          <a:noFill/>
        </p:spPr>
        <p:txBody>
          <a:bodyPr wrap="square" anchor="t">
            <a:spAutoFit/>
          </a:bodyPr>
          <a:lstStyle/>
          <a:p>
            <a:pPr algn="l">
              <a:lnSpc>
                <a:spcPct val="115000"/>
              </a:lnSpc>
            </a:pPr>
            <a:r>
              <a:rPr sz="1800" b="0">
                <a:solidFill>
                  <a:srgbClr val="CDE8D8"/>
                </a:solidFill>
                <a:latin typeface="Nirmala UI"/>
                <a:ea typeface="Nirmala UI"/>
                <a:cs typeface="Nirmala UI"/>
              </a:rPr>
              <a:t>ग्राम पंचायत  •  पंचायत समिति  •  जिला परिषद</a:t>
            </a:r>
          </a:p>
        </p:txBody>
      </p:sp>
      <p:sp>
        <p:nvSpPr>
          <p:cNvPr id="10" name="TextBox 9"/>
          <p:cNvSpPr txBox="1"/>
          <p:nvPr/>
        </p:nvSpPr>
        <p:spPr>
          <a:xfrm>
            <a:off x="731520" y="4572000"/>
            <a:ext cx="6858000" cy="548640"/>
          </a:xfrm>
          <a:prstGeom prst="rect">
            <a:avLst/>
          </a:prstGeom>
          <a:noFill/>
        </p:spPr>
        <p:txBody>
          <a:bodyPr wrap="square" anchor="t">
            <a:spAutoFit/>
          </a:bodyPr>
          <a:lstStyle/>
          <a:p>
            <a:pPr algn="l">
              <a:lnSpc>
                <a:spcPct val="115000"/>
              </a:lnSpc>
            </a:pPr>
            <a:r>
              <a:rPr sz="1600" b="0">
                <a:solidFill>
                  <a:srgbClr val="A7D3B9"/>
                </a:solidFill>
                <a:latin typeface="Nirmala UI"/>
                <a:ea typeface="Nirmala UI"/>
                <a:cs typeface="Nirmala UI"/>
              </a:rPr>
              <a:t>चुनावी माहौल की असली तस्वीर — जनता की राय से</a:t>
            </a:r>
          </a:p>
        </p:txBody>
      </p:sp>
      <p:sp>
        <p:nvSpPr>
          <p:cNvPr id="11" name="Rounded Rectangle 10"/>
          <p:cNvSpPr/>
          <p:nvPr/>
        </p:nvSpPr>
        <p:spPr>
          <a:xfrm>
            <a:off x="7680960" y="1188720"/>
            <a:ext cx="3931920" cy="4480560"/>
          </a:xfrm>
          <a:prstGeom prst="roundRect">
            <a:avLst>
              <a:gd name="adj" fmla="val 8000"/>
            </a:avLst>
          </a:prstGeom>
          <a:noFill/>
          <a:ln w="25400">
            <a:solidFill>
              <a:srgbClr val="7FB8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0">
                <a:solidFill>
                  <a:srgbClr val="7FB89A"/>
                </a:solidFill>
                <a:latin typeface="Nirmala UI"/>
                <a:ea typeface="Nirmala UI"/>
                <a:cs typeface="Nirmala UI"/>
              </a:rPr>
              <a:t>🖼️</a:t>
            </a:r>
          </a:p>
          <a:p>
            <a:pPr algn="ctr">
              <a:lnSpc>
                <a:spcPct val="115000"/>
              </a:lnSpc>
            </a:pPr>
            <a:r>
              <a:rPr sz="1600" b="0">
                <a:solidFill>
                  <a:srgbClr val="7FB89A"/>
                </a:solidFill>
                <a:latin typeface="Nirmala UI"/>
                <a:ea typeface="Nirmala UI"/>
                <a:cs typeface="Nirmala UI"/>
              </a:rPr>
              <a:t>राजस्थान का नक्शा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109728" cy="7772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84048"/>
            <a:ext cx="10058400" cy="640080"/>
          </a:xfrm>
          <a:prstGeom prst="rect">
            <a:avLst/>
          </a:prstGeom>
          <a:noFill/>
        </p:spPr>
        <p:txBody>
          <a:bodyPr wrap="square" anchor="t">
            <a:spAutoFit/>
          </a:bodyPr>
          <a:lstStyle/>
          <a:p>
            <a:pPr algn="l">
              <a:lnSpc>
                <a:spcPct val="115000"/>
              </a:lnSpc>
            </a:pPr>
            <a:r>
              <a:rPr sz="3400" b="1">
                <a:solidFill>
                  <a:srgbClr val="0B5D3B"/>
                </a:solidFill>
                <a:latin typeface="Nirmala UI"/>
                <a:ea typeface="Nirmala UI"/>
                <a:cs typeface="Nirmala UI"/>
              </a:rPr>
              <a:t>समस्या और जरूरत</a:t>
            </a:r>
          </a:p>
        </p:txBody>
      </p:sp>
      <p:sp>
        <p:nvSpPr>
          <p:cNvPr id="5" name="TextBox 4"/>
          <p:cNvSpPr txBox="1"/>
          <p:nvPr/>
        </p:nvSpPr>
        <p:spPr>
          <a:xfrm>
            <a:off x="868680" y="960120"/>
            <a:ext cx="10058400" cy="365760"/>
          </a:xfrm>
          <a:prstGeom prst="rect">
            <a:avLst/>
          </a:prstGeom>
          <a:noFill/>
        </p:spPr>
        <p:txBody>
          <a:bodyPr wrap="square" anchor="t">
            <a:spAutoFit/>
          </a:bodyPr>
          <a:lstStyle/>
          <a:p>
            <a:pPr algn="l">
              <a:lnSpc>
                <a:spcPct val="115000"/>
              </a:lnSpc>
            </a:pPr>
            <a:r>
              <a:rPr sz="1400" b="0">
                <a:solidFill>
                  <a:srgbClr val="6B7280"/>
                </a:solidFill>
                <a:latin typeface="Nirmala UI"/>
                <a:ea typeface="Nirmala UI"/>
                <a:cs typeface="Nirmala UI"/>
              </a:rPr>
              <a:t>The Problem &amp; Need</a:t>
            </a:r>
          </a:p>
        </p:txBody>
      </p:sp>
      <p:sp>
        <p:nvSpPr>
          <p:cNvPr id="6" name="Rounded Rectangle 5"/>
          <p:cNvSpPr/>
          <p:nvPr/>
        </p:nvSpPr>
        <p:spPr>
          <a:xfrm>
            <a:off x="640080" y="1691640"/>
            <a:ext cx="2240280" cy="2743200"/>
          </a:xfrm>
          <a:prstGeom prst="roundRect">
            <a:avLst>
              <a:gd name="adj" fmla="val 8000"/>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71600" y="1920240"/>
            <a:ext cx="777240" cy="777240"/>
          </a:xfrm>
          <a:prstGeom prst="ellipse">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400" b="0">
                <a:solidFill>
                  <a:srgbClr val="0B5D3B"/>
                </a:solidFill>
                <a:latin typeface="Nirmala UI"/>
                <a:ea typeface="Nirmala UI"/>
                <a:cs typeface="Nirmala UI"/>
              </a:rPr>
              <a:t>☕</a:t>
            </a:r>
          </a:p>
        </p:txBody>
      </p:sp>
      <p:sp>
        <p:nvSpPr>
          <p:cNvPr id="8" name="TextBox 7"/>
          <p:cNvSpPr txBox="1"/>
          <p:nvPr/>
        </p:nvSpPr>
        <p:spPr>
          <a:xfrm>
            <a:off x="640080" y="2834640"/>
            <a:ext cx="2240280" cy="457200"/>
          </a:xfrm>
          <a:prstGeom prst="rect">
            <a:avLst/>
          </a:prstGeom>
          <a:noFill/>
        </p:spPr>
        <p:txBody>
          <a:bodyPr wrap="square" anchor="t">
            <a:spAutoFit/>
          </a:bodyPr>
          <a:lstStyle/>
          <a:p>
            <a:pPr algn="ctr">
              <a:lnSpc>
                <a:spcPct val="115000"/>
              </a:lnSpc>
            </a:pPr>
            <a:r>
              <a:rPr sz="1900" b="1">
                <a:solidFill>
                  <a:srgbClr val="0B5D3B"/>
                </a:solidFill>
                <a:latin typeface="Nirmala UI"/>
                <a:ea typeface="Nirmala UI"/>
                <a:cs typeface="Nirmala UI"/>
              </a:rPr>
              <a:t>चाय की थड़ी</a:t>
            </a:r>
          </a:p>
        </p:txBody>
      </p:sp>
      <p:sp>
        <p:nvSpPr>
          <p:cNvPr id="9" name="TextBox 8"/>
          <p:cNvSpPr txBox="1"/>
          <p:nvPr/>
        </p:nvSpPr>
        <p:spPr>
          <a:xfrm>
            <a:off x="731519" y="3337560"/>
            <a:ext cx="2057400" cy="914400"/>
          </a:xfrm>
          <a:prstGeom prst="rect">
            <a:avLst/>
          </a:prstGeom>
          <a:noFill/>
        </p:spPr>
        <p:txBody>
          <a:bodyPr wrap="square" anchor="t">
            <a:spAutoFit/>
          </a:bodyPr>
          <a:lstStyle/>
          <a:p>
            <a:pPr algn="ctr">
              <a:lnSpc>
                <a:spcPct val="115000"/>
              </a:lnSpc>
            </a:pPr>
            <a:r>
              <a:rPr sz="1300" b="0">
                <a:solidFill>
                  <a:srgbClr val="6B7280"/>
                </a:solidFill>
                <a:latin typeface="Nirmala UI"/>
                <a:ea typeface="Nirmala UI"/>
                <a:cs typeface="Nirmala UI"/>
              </a:rPr>
              <a:t>चुनावी चर्चाएं सिर्फ</a:t>
            </a:r>
          </a:p>
          <a:p>
            <a:pPr algn="ctr">
              <a:lnSpc>
                <a:spcPct val="115000"/>
              </a:lnSpc>
            </a:pPr>
            <a:r>
              <a:rPr sz="1300" b="0">
                <a:solidFill>
                  <a:srgbClr val="6B7280"/>
                </a:solidFill>
                <a:latin typeface="Nirmala UI"/>
                <a:ea typeface="Nirmala UI"/>
                <a:cs typeface="Nirmala UI"/>
              </a:rPr>
              <a:t>बातचीत तक सीमित</a:t>
            </a:r>
          </a:p>
        </p:txBody>
      </p:sp>
      <p:sp>
        <p:nvSpPr>
          <p:cNvPr id="10" name="Rounded Rectangle 9"/>
          <p:cNvSpPr/>
          <p:nvPr/>
        </p:nvSpPr>
        <p:spPr>
          <a:xfrm>
            <a:off x="3063239" y="1691640"/>
            <a:ext cx="2240280" cy="2743200"/>
          </a:xfrm>
          <a:prstGeom prst="roundRect">
            <a:avLst>
              <a:gd name="adj" fmla="val 8000"/>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794759" y="1920240"/>
            <a:ext cx="777240" cy="777240"/>
          </a:xfrm>
          <a:prstGeom prst="ellipse">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400" b="0">
                <a:solidFill>
                  <a:srgbClr val="0B5D3B"/>
                </a:solidFill>
                <a:latin typeface="Nirmala UI"/>
                <a:ea typeface="Nirmala UI"/>
                <a:cs typeface="Nirmala UI"/>
              </a:rPr>
              <a:t>🏘️</a:t>
            </a:r>
          </a:p>
        </p:txBody>
      </p:sp>
      <p:sp>
        <p:nvSpPr>
          <p:cNvPr id="12" name="TextBox 11"/>
          <p:cNvSpPr txBox="1"/>
          <p:nvPr/>
        </p:nvSpPr>
        <p:spPr>
          <a:xfrm>
            <a:off x="3063239" y="2834640"/>
            <a:ext cx="2240280" cy="457200"/>
          </a:xfrm>
          <a:prstGeom prst="rect">
            <a:avLst/>
          </a:prstGeom>
          <a:noFill/>
        </p:spPr>
        <p:txBody>
          <a:bodyPr wrap="square" anchor="t">
            <a:spAutoFit/>
          </a:bodyPr>
          <a:lstStyle/>
          <a:p>
            <a:pPr algn="ctr">
              <a:lnSpc>
                <a:spcPct val="115000"/>
              </a:lnSpc>
            </a:pPr>
            <a:r>
              <a:rPr sz="1900" b="1">
                <a:solidFill>
                  <a:srgbClr val="0B5D3B"/>
                </a:solidFill>
                <a:latin typeface="Nirmala UI"/>
                <a:ea typeface="Nirmala UI"/>
                <a:cs typeface="Nirmala UI"/>
              </a:rPr>
              <a:t>चौपाल</a:t>
            </a:r>
          </a:p>
        </p:txBody>
      </p:sp>
      <p:sp>
        <p:nvSpPr>
          <p:cNvPr id="13" name="TextBox 12"/>
          <p:cNvSpPr txBox="1"/>
          <p:nvPr/>
        </p:nvSpPr>
        <p:spPr>
          <a:xfrm>
            <a:off x="3154679" y="3337560"/>
            <a:ext cx="2057400" cy="914400"/>
          </a:xfrm>
          <a:prstGeom prst="rect">
            <a:avLst/>
          </a:prstGeom>
          <a:noFill/>
        </p:spPr>
        <p:txBody>
          <a:bodyPr wrap="square" anchor="t">
            <a:spAutoFit/>
          </a:bodyPr>
          <a:lstStyle/>
          <a:p>
            <a:pPr algn="ctr">
              <a:lnSpc>
                <a:spcPct val="115000"/>
              </a:lnSpc>
            </a:pPr>
            <a:r>
              <a:rPr sz="1300" b="0">
                <a:solidFill>
                  <a:srgbClr val="6B7280"/>
                </a:solidFill>
                <a:latin typeface="Nirmala UI"/>
                <a:ea typeface="Nirmala UI"/>
                <a:cs typeface="Nirmala UI"/>
              </a:rPr>
              <a:t>लोगों की राय कहीं</a:t>
            </a:r>
          </a:p>
          <a:p>
            <a:pPr algn="ctr">
              <a:lnSpc>
                <a:spcPct val="115000"/>
              </a:lnSpc>
            </a:pPr>
            <a:r>
              <a:rPr sz="1300" b="0">
                <a:solidFill>
                  <a:srgbClr val="6B7280"/>
                </a:solidFill>
                <a:latin typeface="Nirmala UI"/>
                <a:ea typeface="Nirmala UI"/>
                <a:cs typeface="Nirmala UI"/>
              </a:rPr>
              <a:t>दर्ज नहीं होती</a:t>
            </a:r>
          </a:p>
        </p:txBody>
      </p:sp>
      <p:sp>
        <p:nvSpPr>
          <p:cNvPr id="14" name="Rounded Rectangle 13"/>
          <p:cNvSpPr/>
          <p:nvPr/>
        </p:nvSpPr>
        <p:spPr>
          <a:xfrm>
            <a:off x="5486400" y="1691640"/>
            <a:ext cx="2240280" cy="2743200"/>
          </a:xfrm>
          <a:prstGeom prst="roundRect">
            <a:avLst>
              <a:gd name="adj" fmla="val 8000"/>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17920" y="1920240"/>
            <a:ext cx="777240" cy="777240"/>
          </a:xfrm>
          <a:prstGeom prst="ellipse">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400" b="0">
                <a:solidFill>
                  <a:srgbClr val="0B5D3B"/>
                </a:solidFill>
                <a:latin typeface="Nirmala UI"/>
                <a:ea typeface="Nirmala UI"/>
                <a:cs typeface="Nirmala UI"/>
              </a:rPr>
              <a:t>❓</a:t>
            </a:r>
          </a:p>
        </p:txBody>
      </p:sp>
      <p:sp>
        <p:nvSpPr>
          <p:cNvPr id="16" name="TextBox 15"/>
          <p:cNvSpPr txBox="1"/>
          <p:nvPr/>
        </p:nvSpPr>
        <p:spPr>
          <a:xfrm>
            <a:off x="5486400" y="2834640"/>
            <a:ext cx="2240280" cy="457200"/>
          </a:xfrm>
          <a:prstGeom prst="rect">
            <a:avLst/>
          </a:prstGeom>
          <a:noFill/>
        </p:spPr>
        <p:txBody>
          <a:bodyPr wrap="square" anchor="t">
            <a:spAutoFit/>
          </a:bodyPr>
          <a:lstStyle/>
          <a:p>
            <a:pPr algn="ctr">
              <a:lnSpc>
                <a:spcPct val="115000"/>
              </a:lnSpc>
            </a:pPr>
            <a:r>
              <a:rPr sz="1900" b="1">
                <a:solidFill>
                  <a:srgbClr val="0B5D3B"/>
                </a:solidFill>
                <a:latin typeface="Nirmala UI"/>
                <a:ea typeface="Nirmala UI"/>
                <a:cs typeface="Nirmala UI"/>
              </a:rPr>
              <a:t>असली माहौल?</a:t>
            </a:r>
          </a:p>
        </p:txBody>
      </p:sp>
      <p:sp>
        <p:nvSpPr>
          <p:cNvPr id="17" name="TextBox 16"/>
          <p:cNvSpPr txBox="1"/>
          <p:nvPr/>
        </p:nvSpPr>
        <p:spPr>
          <a:xfrm>
            <a:off x="5577840" y="3337560"/>
            <a:ext cx="2057400" cy="914400"/>
          </a:xfrm>
          <a:prstGeom prst="rect">
            <a:avLst/>
          </a:prstGeom>
          <a:noFill/>
        </p:spPr>
        <p:txBody>
          <a:bodyPr wrap="square" anchor="t">
            <a:spAutoFit/>
          </a:bodyPr>
          <a:lstStyle/>
          <a:p>
            <a:pPr algn="ctr">
              <a:lnSpc>
                <a:spcPct val="115000"/>
              </a:lnSpc>
            </a:pPr>
            <a:r>
              <a:rPr sz="1300" b="0">
                <a:solidFill>
                  <a:srgbClr val="6B7280"/>
                </a:solidFill>
                <a:latin typeface="Nirmala UI"/>
                <a:ea typeface="Nirmala UI"/>
                <a:cs typeface="Nirmala UI"/>
              </a:rPr>
              <a:t>गाँव क्या सोचता है,</a:t>
            </a:r>
          </a:p>
          <a:p>
            <a:pPr algn="ctr">
              <a:lnSpc>
                <a:spcPct val="115000"/>
              </a:lnSpc>
            </a:pPr>
            <a:r>
              <a:rPr sz="1300" b="0">
                <a:solidFill>
                  <a:srgbClr val="6B7280"/>
                </a:solidFill>
                <a:latin typeface="Nirmala UI"/>
                <a:ea typeface="Nirmala UI"/>
                <a:cs typeface="Nirmala UI"/>
              </a:rPr>
              <a:t>पता ही नहीं चलता</a:t>
            </a:r>
          </a:p>
        </p:txBody>
      </p:sp>
      <p:sp>
        <p:nvSpPr>
          <p:cNvPr id="18" name="Rounded Rectangle 17"/>
          <p:cNvSpPr/>
          <p:nvPr/>
        </p:nvSpPr>
        <p:spPr>
          <a:xfrm>
            <a:off x="8001000" y="1691640"/>
            <a:ext cx="3566160" cy="2743200"/>
          </a:xfrm>
          <a:prstGeom prst="roundRect">
            <a:avLst>
              <a:gd name="adj" fmla="val 8000"/>
            </a:avLst>
          </a:prstGeom>
          <a:solidFill>
            <a:srgbClr val="E8F5EC"/>
          </a:solidFill>
          <a:ln w="25400">
            <a:solidFill>
              <a:srgbClr val="9CC9A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0">
                <a:solidFill>
                  <a:srgbClr val="16A34A"/>
                </a:solidFill>
                <a:latin typeface="Nirmala UI"/>
                <a:ea typeface="Nirmala UI"/>
                <a:cs typeface="Nirmala UI"/>
              </a:rPr>
              <a:t>🖼️</a:t>
            </a:r>
          </a:p>
          <a:p>
            <a:pPr algn="ctr">
              <a:lnSpc>
                <a:spcPct val="115000"/>
              </a:lnSpc>
            </a:pPr>
            <a:r>
              <a:rPr sz="1600" b="0">
                <a:solidFill>
                  <a:srgbClr val="16A34A"/>
                </a:solidFill>
                <a:latin typeface="Nirmala UI"/>
                <a:ea typeface="Nirmala UI"/>
                <a:cs typeface="Nirmala UI"/>
              </a:rPr>
              <a:t>लोग चर्चा करते हुए</a:t>
            </a:r>
          </a:p>
        </p:txBody>
      </p:sp>
      <p:sp>
        <p:nvSpPr>
          <p:cNvPr id="19" name="Rounded Rectangle 18"/>
          <p:cNvSpPr/>
          <p:nvPr/>
        </p:nvSpPr>
        <p:spPr>
          <a:xfrm>
            <a:off x="640080" y="4800600"/>
            <a:ext cx="10927080" cy="1143000"/>
          </a:xfrm>
          <a:prstGeom prst="roundRect">
            <a:avLst>
              <a:gd name="adj" fmla="val 2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400" b="1">
                <a:solidFill>
                  <a:srgbClr val="FFFFFF"/>
                </a:solidFill>
                <a:latin typeface="Nirmala UI"/>
                <a:ea typeface="Nirmala UI"/>
                <a:cs typeface="Nirmala UI"/>
              </a:rPr>
              <a:t>✅  समाधान:  JanPoll.in — जनता की राय, बस एक क्लिक पर</a:t>
            </a:r>
          </a:p>
        </p:txBody>
      </p:sp>
      <p:sp>
        <p:nvSpPr>
          <p:cNvPr id="20" name="Rectangle 19"/>
          <p:cNvSpPr/>
          <p:nvPr/>
        </p:nvSpPr>
        <p:spPr>
          <a:xfrm>
            <a:off x="0" y="6492240"/>
            <a:ext cx="12191695" cy="36576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10528"/>
            <a:ext cx="5486400" cy="320040"/>
          </a:xfrm>
          <a:prstGeom prst="rect">
            <a:avLst/>
          </a:prstGeom>
          <a:noFill/>
        </p:spPr>
        <p:txBody>
          <a:bodyPr wrap="square" anchor="ctr">
            <a:spAutoFit/>
          </a:bodyPr>
          <a:lstStyle/>
          <a:p>
            <a:pPr algn="l">
              <a:lnSpc>
                <a:spcPct val="115000"/>
              </a:lnSpc>
            </a:pPr>
            <a:r>
              <a:rPr sz="1100" b="1">
                <a:solidFill>
                  <a:srgbClr val="0B5D3B"/>
                </a:solidFill>
                <a:latin typeface="Nirmala UI"/>
                <a:ea typeface="Nirmala UI"/>
                <a:cs typeface="Nirmala UI"/>
              </a:rPr>
              <a:t>🗳️ JanPoll.in  |  राजस्थान की आवाज़</a:t>
            </a:r>
          </a:p>
        </p:txBody>
      </p:sp>
      <p:sp>
        <p:nvSpPr>
          <p:cNvPr id="22" name="TextBox 21"/>
          <p:cNvSpPr txBox="1"/>
          <p:nvPr/>
        </p:nvSpPr>
        <p:spPr>
          <a:xfrm>
            <a:off x="10607040" y="6510528"/>
            <a:ext cx="914400" cy="320040"/>
          </a:xfrm>
          <a:prstGeom prst="rect">
            <a:avLst/>
          </a:prstGeom>
          <a:noFill/>
        </p:spPr>
        <p:txBody>
          <a:bodyPr wrap="square" anchor="ctr">
            <a:spAutoFit/>
          </a:bodyPr>
          <a:lstStyle/>
          <a:p>
            <a:pPr algn="r">
              <a:lnSpc>
                <a:spcPct val="115000"/>
              </a:lnSpc>
            </a:pPr>
            <a:r>
              <a:rPr sz="1100" b="0">
                <a:solidFill>
                  <a:srgbClr val="6B7280"/>
                </a:solidFill>
                <a:latin typeface="Nirmala UI"/>
                <a:ea typeface="Nirmala UI"/>
                <a:cs typeface="Nirmala UI"/>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109728" cy="7772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84048"/>
            <a:ext cx="10058400" cy="640080"/>
          </a:xfrm>
          <a:prstGeom prst="rect">
            <a:avLst/>
          </a:prstGeom>
          <a:noFill/>
        </p:spPr>
        <p:txBody>
          <a:bodyPr wrap="square" anchor="t">
            <a:spAutoFit/>
          </a:bodyPr>
          <a:lstStyle/>
          <a:p>
            <a:pPr algn="l">
              <a:lnSpc>
                <a:spcPct val="115000"/>
              </a:lnSpc>
            </a:pPr>
            <a:r>
              <a:rPr sz="3400" b="1">
                <a:solidFill>
                  <a:srgbClr val="0B5D3B"/>
                </a:solidFill>
                <a:latin typeface="Nirmala UI"/>
                <a:ea typeface="Nirmala UI"/>
                <a:cs typeface="Nirmala UI"/>
              </a:rPr>
              <a:t>JanPoll क्या है?</a:t>
            </a:r>
          </a:p>
        </p:txBody>
      </p:sp>
      <p:sp>
        <p:nvSpPr>
          <p:cNvPr id="5" name="TextBox 4"/>
          <p:cNvSpPr txBox="1"/>
          <p:nvPr/>
        </p:nvSpPr>
        <p:spPr>
          <a:xfrm>
            <a:off x="868680" y="960120"/>
            <a:ext cx="10058400" cy="365760"/>
          </a:xfrm>
          <a:prstGeom prst="rect">
            <a:avLst/>
          </a:prstGeom>
          <a:noFill/>
        </p:spPr>
        <p:txBody>
          <a:bodyPr wrap="square" anchor="t">
            <a:spAutoFit/>
          </a:bodyPr>
          <a:lstStyle/>
          <a:p>
            <a:pPr algn="l">
              <a:lnSpc>
                <a:spcPct val="115000"/>
              </a:lnSpc>
            </a:pPr>
            <a:r>
              <a:rPr sz="1400" b="0">
                <a:solidFill>
                  <a:srgbClr val="6B7280"/>
                </a:solidFill>
                <a:latin typeface="Nirmala UI"/>
                <a:ea typeface="Nirmala UI"/>
                <a:cs typeface="Nirmala UI"/>
              </a:rPr>
              <a:t>What is JanPoll?</a:t>
            </a:r>
          </a:p>
        </p:txBody>
      </p:sp>
      <p:sp>
        <p:nvSpPr>
          <p:cNvPr id="6" name="TextBox 5"/>
          <p:cNvSpPr txBox="1"/>
          <p:nvPr/>
        </p:nvSpPr>
        <p:spPr>
          <a:xfrm>
            <a:off x="640080" y="1645920"/>
            <a:ext cx="5303520" cy="1280160"/>
          </a:xfrm>
          <a:prstGeom prst="rect">
            <a:avLst/>
          </a:prstGeom>
          <a:noFill/>
        </p:spPr>
        <p:txBody>
          <a:bodyPr wrap="square" anchor="t">
            <a:spAutoFit/>
          </a:bodyPr>
          <a:lstStyle/>
          <a:p>
            <a:pPr algn="l">
              <a:lnSpc>
                <a:spcPct val="130000"/>
              </a:lnSpc>
            </a:pPr>
            <a:r>
              <a:rPr sz="1900" b="0">
                <a:solidFill>
                  <a:srgbClr val="1F2937"/>
                </a:solidFill>
                <a:latin typeface="Nirmala UI"/>
                <a:ea typeface="Nirmala UI"/>
                <a:cs typeface="Nirmala UI"/>
              </a:rPr>
              <a:t>राजस्थान का डिजिटल पब्लिक ओपिनियन और पोलिंग प्लेटफॉर्म — जहाँ जनता खुद अपनी राय दर्ज करती है।</a:t>
            </a:r>
          </a:p>
        </p:txBody>
      </p:sp>
      <p:sp>
        <p:nvSpPr>
          <p:cNvPr id="7" name="Oval 6"/>
          <p:cNvSpPr/>
          <p:nvPr/>
        </p:nvSpPr>
        <p:spPr>
          <a:xfrm>
            <a:off x="685800" y="2971800"/>
            <a:ext cx="457200" cy="45720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1">
                <a:solidFill>
                  <a:srgbClr val="FFFFFF"/>
                </a:solidFill>
                <a:latin typeface="Nirmala UI"/>
                <a:ea typeface="Nirmala UI"/>
                <a:cs typeface="Nirmala UI"/>
              </a:rPr>
              <a:t>✓</a:t>
            </a:r>
          </a:p>
        </p:txBody>
      </p:sp>
      <p:sp>
        <p:nvSpPr>
          <p:cNvPr id="8" name="TextBox 7"/>
          <p:cNvSpPr txBox="1"/>
          <p:nvPr/>
        </p:nvSpPr>
        <p:spPr>
          <a:xfrm>
            <a:off x="1325880" y="2953512"/>
            <a:ext cx="4572000" cy="502920"/>
          </a:xfrm>
          <a:prstGeom prst="rect">
            <a:avLst/>
          </a:prstGeom>
          <a:noFill/>
        </p:spPr>
        <p:txBody>
          <a:bodyPr wrap="square" anchor="ctr">
            <a:spAutoFit/>
          </a:bodyPr>
          <a:lstStyle/>
          <a:p>
            <a:pPr algn="l">
              <a:lnSpc>
                <a:spcPct val="115000"/>
              </a:lnSpc>
            </a:pPr>
            <a:r>
              <a:rPr sz="1800" b="0">
                <a:solidFill>
                  <a:srgbClr val="1F2937"/>
                </a:solidFill>
                <a:latin typeface="Nirmala UI"/>
                <a:ea typeface="Nirmala UI"/>
                <a:cs typeface="Nirmala UI"/>
              </a:rPr>
              <a:t>स्थानीय मुद्दे</a:t>
            </a:r>
          </a:p>
        </p:txBody>
      </p:sp>
      <p:sp>
        <p:nvSpPr>
          <p:cNvPr id="9" name="Oval 8"/>
          <p:cNvSpPr/>
          <p:nvPr/>
        </p:nvSpPr>
        <p:spPr>
          <a:xfrm>
            <a:off x="685800" y="3703320"/>
            <a:ext cx="457200" cy="45720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1">
                <a:solidFill>
                  <a:srgbClr val="FFFFFF"/>
                </a:solidFill>
                <a:latin typeface="Nirmala UI"/>
                <a:ea typeface="Nirmala UI"/>
                <a:cs typeface="Nirmala UI"/>
              </a:rPr>
              <a:t>✓</a:t>
            </a:r>
          </a:p>
        </p:txBody>
      </p:sp>
      <p:sp>
        <p:nvSpPr>
          <p:cNvPr id="10" name="TextBox 9"/>
          <p:cNvSpPr txBox="1"/>
          <p:nvPr/>
        </p:nvSpPr>
        <p:spPr>
          <a:xfrm>
            <a:off x="1325880" y="3685032"/>
            <a:ext cx="4572000" cy="502920"/>
          </a:xfrm>
          <a:prstGeom prst="rect">
            <a:avLst/>
          </a:prstGeom>
          <a:noFill/>
        </p:spPr>
        <p:txBody>
          <a:bodyPr wrap="square" anchor="ctr">
            <a:spAutoFit/>
          </a:bodyPr>
          <a:lstStyle/>
          <a:p>
            <a:pPr algn="l">
              <a:lnSpc>
                <a:spcPct val="115000"/>
              </a:lnSpc>
            </a:pPr>
            <a:r>
              <a:rPr sz="1800" b="0">
                <a:solidFill>
                  <a:srgbClr val="1F2937"/>
                </a:solidFill>
                <a:latin typeface="Nirmala UI"/>
                <a:ea typeface="Nirmala UI"/>
                <a:cs typeface="Nirmala UI"/>
              </a:rPr>
              <a:t>ग्राम पंचायत व सरपंच चुनाव</a:t>
            </a:r>
          </a:p>
        </p:txBody>
      </p:sp>
      <p:sp>
        <p:nvSpPr>
          <p:cNvPr id="11" name="Oval 10"/>
          <p:cNvSpPr/>
          <p:nvPr/>
        </p:nvSpPr>
        <p:spPr>
          <a:xfrm>
            <a:off x="685800" y="4434840"/>
            <a:ext cx="457200" cy="45720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1">
                <a:solidFill>
                  <a:srgbClr val="FFFFFF"/>
                </a:solidFill>
                <a:latin typeface="Nirmala UI"/>
                <a:ea typeface="Nirmala UI"/>
                <a:cs typeface="Nirmala UI"/>
              </a:rPr>
              <a:t>✓</a:t>
            </a:r>
          </a:p>
        </p:txBody>
      </p:sp>
      <p:sp>
        <p:nvSpPr>
          <p:cNvPr id="12" name="TextBox 11"/>
          <p:cNvSpPr txBox="1"/>
          <p:nvPr/>
        </p:nvSpPr>
        <p:spPr>
          <a:xfrm>
            <a:off x="1325880" y="4416552"/>
            <a:ext cx="4572000" cy="502920"/>
          </a:xfrm>
          <a:prstGeom prst="rect">
            <a:avLst/>
          </a:prstGeom>
          <a:noFill/>
        </p:spPr>
        <p:txBody>
          <a:bodyPr wrap="square" anchor="ctr">
            <a:spAutoFit/>
          </a:bodyPr>
          <a:lstStyle/>
          <a:p>
            <a:pPr algn="l">
              <a:lnSpc>
                <a:spcPct val="115000"/>
              </a:lnSpc>
            </a:pPr>
            <a:r>
              <a:rPr sz="1800" b="0">
                <a:solidFill>
                  <a:srgbClr val="1F2937"/>
                </a:solidFill>
                <a:latin typeface="Nirmala UI"/>
                <a:ea typeface="Nirmala UI"/>
                <a:cs typeface="Nirmala UI"/>
              </a:rPr>
              <a:t>राजनीतिक विषय</a:t>
            </a:r>
          </a:p>
        </p:txBody>
      </p:sp>
      <p:sp>
        <p:nvSpPr>
          <p:cNvPr id="13" name="Oval 12"/>
          <p:cNvSpPr/>
          <p:nvPr/>
        </p:nvSpPr>
        <p:spPr>
          <a:xfrm>
            <a:off x="685800" y="5166360"/>
            <a:ext cx="457200" cy="45720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1">
                <a:solidFill>
                  <a:srgbClr val="FFFFFF"/>
                </a:solidFill>
                <a:latin typeface="Nirmala UI"/>
                <a:ea typeface="Nirmala UI"/>
                <a:cs typeface="Nirmala UI"/>
              </a:rPr>
              <a:t>✓</a:t>
            </a:r>
          </a:p>
        </p:txBody>
      </p:sp>
      <p:sp>
        <p:nvSpPr>
          <p:cNvPr id="14" name="TextBox 13"/>
          <p:cNvSpPr txBox="1"/>
          <p:nvPr/>
        </p:nvSpPr>
        <p:spPr>
          <a:xfrm>
            <a:off x="1325880" y="5148072"/>
            <a:ext cx="4572000" cy="502920"/>
          </a:xfrm>
          <a:prstGeom prst="rect">
            <a:avLst/>
          </a:prstGeom>
          <a:noFill/>
        </p:spPr>
        <p:txBody>
          <a:bodyPr wrap="square" anchor="ctr">
            <a:spAutoFit/>
          </a:bodyPr>
          <a:lstStyle/>
          <a:p>
            <a:pPr algn="l">
              <a:lnSpc>
                <a:spcPct val="115000"/>
              </a:lnSpc>
            </a:pPr>
            <a:r>
              <a:rPr sz="1800" b="0">
                <a:solidFill>
                  <a:srgbClr val="1F2937"/>
                </a:solidFill>
                <a:latin typeface="Nirmala UI"/>
                <a:ea typeface="Nirmala UI"/>
                <a:cs typeface="Nirmala UI"/>
              </a:rPr>
              <a:t>लाइव नतीजे, तुरंत</a:t>
            </a:r>
          </a:p>
        </p:txBody>
      </p:sp>
      <p:sp>
        <p:nvSpPr>
          <p:cNvPr id="15" name="Rounded Rectangle 14"/>
          <p:cNvSpPr/>
          <p:nvPr/>
        </p:nvSpPr>
        <p:spPr>
          <a:xfrm>
            <a:off x="6309360" y="1645920"/>
            <a:ext cx="5257800" cy="4480560"/>
          </a:xfrm>
          <a:prstGeom prst="roundRect">
            <a:avLst>
              <a:gd name="adj" fmla="val 5000"/>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80" y="1874519"/>
            <a:ext cx="914400" cy="34747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100" b="1">
                <a:solidFill>
                  <a:srgbClr val="FFFFFF"/>
                </a:solidFill>
                <a:latin typeface="Nirmala UI"/>
                <a:ea typeface="Nirmala UI"/>
                <a:cs typeface="Nirmala UI"/>
              </a:rPr>
              <a:t>● LIVE</a:t>
            </a:r>
          </a:p>
        </p:txBody>
      </p:sp>
      <p:sp>
        <p:nvSpPr>
          <p:cNvPr id="17" name="TextBox 16"/>
          <p:cNvSpPr txBox="1"/>
          <p:nvPr/>
        </p:nvSpPr>
        <p:spPr>
          <a:xfrm>
            <a:off x="6537960" y="2331720"/>
            <a:ext cx="4846320" cy="548640"/>
          </a:xfrm>
          <a:prstGeom prst="rect">
            <a:avLst/>
          </a:prstGeom>
          <a:noFill/>
        </p:spPr>
        <p:txBody>
          <a:bodyPr wrap="square" anchor="t">
            <a:spAutoFit/>
          </a:bodyPr>
          <a:lstStyle/>
          <a:p>
            <a:pPr algn="l">
              <a:lnSpc>
                <a:spcPct val="115000"/>
              </a:lnSpc>
            </a:pPr>
            <a:r>
              <a:rPr sz="1800" b="1">
                <a:solidFill>
                  <a:srgbClr val="0B5D3B"/>
                </a:solidFill>
                <a:latin typeface="Nirmala UI"/>
                <a:ea typeface="Nirmala UI"/>
                <a:cs typeface="Nirmala UI"/>
              </a:rPr>
              <a:t>आपकी पंचायत का सबसे बड़ा मुद्दा?</a:t>
            </a:r>
          </a:p>
        </p:txBody>
      </p:sp>
      <p:sp>
        <p:nvSpPr>
          <p:cNvPr id="18" name="TextBox 17"/>
          <p:cNvSpPr txBox="1"/>
          <p:nvPr/>
        </p:nvSpPr>
        <p:spPr>
          <a:xfrm>
            <a:off x="6537960" y="3063240"/>
            <a:ext cx="2743200" cy="365760"/>
          </a:xfrm>
          <a:prstGeom prst="rect">
            <a:avLst/>
          </a:prstGeom>
          <a:noFill/>
        </p:spPr>
        <p:txBody>
          <a:bodyPr wrap="square" anchor="t">
            <a:spAutoFit/>
          </a:bodyPr>
          <a:lstStyle/>
          <a:p>
            <a:pPr algn="l">
              <a:lnSpc>
                <a:spcPct val="115000"/>
              </a:lnSpc>
            </a:pPr>
            <a:r>
              <a:rPr sz="1500" b="0">
                <a:solidFill>
                  <a:srgbClr val="1F2937"/>
                </a:solidFill>
                <a:latin typeface="Nirmala UI"/>
                <a:ea typeface="Nirmala UI"/>
                <a:cs typeface="Nirmala UI"/>
              </a:rPr>
              <a:t>सड़क</a:t>
            </a:r>
          </a:p>
        </p:txBody>
      </p:sp>
      <p:sp>
        <p:nvSpPr>
          <p:cNvPr id="19" name="TextBox 18"/>
          <p:cNvSpPr txBox="1"/>
          <p:nvPr/>
        </p:nvSpPr>
        <p:spPr>
          <a:xfrm>
            <a:off x="10332720" y="3063240"/>
            <a:ext cx="1005840" cy="365760"/>
          </a:xfrm>
          <a:prstGeom prst="rect">
            <a:avLst/>
          </a:prstGeom>
          <a:noFill/>
        </p:spPr>
        <p:txBody>
          <a:bodyPr wrap="square" anchor="t">
            <a:spAutoFit/>
          </a:bodyPr>
          <a:lstStyle/>
          <a:p>
            <a:pPr algn="r">
              <a:lnSpc>
                <a:spcPct val="115000"/>
              </a:lnSpc>
            </a:pPr>
            <a:r>
              <a:rPr sz="1500" b="1">
                <a:solidFill>
                  <a:srgbClr val="16A34A"/>
                </a:solidFill>
                <a:latin typeface="Nirmala UI"/>
                <a:ea typeface="Nirmala UI"/>
                <a:cs typeface="Nirmala UI"/>
              </a:rPr>
              <a:t>45%</a:t>
            </a:r>
          </a:p>
        </p:txBody>
      </p:sp>
      <p:sp>
        <p:nvSpPr>
          <p:cNvPr id="20" name="Rounded Rectangle 19"/>
          <p:cNvSpPr/>
          <p:nvPr/>
        </p:nvSpPr>
        <p:spPr>
          <a:xfrm>
            <a:off x="6629400" y="3474720"/>
            <a:ext cx="4663440" cy="256032"/>
          </a:xfrm>
          <a:prstGeom prst="roundRect">
            <a:avLst>
              <a:gd name="adj" fmla="val 50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629400" y="3474720"/>
            <a:ext cx="2098548" cy="256032"/>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3931920"/>
            <a:ext cx="2743200" cy="365760"/>
          </a:xfrm>
          <a:prstGeom prst="rect">
            <a:avLst/>
          </a:prstGeom>
          <a:noFill/>
        </p:spPr>
        <p:txBody>
          <a:bodyPr wrap="square" anchor="t">
            <a:spAutoFit/>
          </a:bodyPr>
          <a:lstStyle/>
          <a:p>
            <a:pPr algn="l">
              <a:lnSpc>
                <a:spcPct val="115000"/>
              </a:lnSpc>
            </a:pPr>
            <a:r>
              <a:rPr sz="1500" b="0">
                <a:solidFill>
                  <a:srgbClr val="1F2937"/>
                </a:solidFill>
                <a:latin typeface="Nirmala UI"/>
                <a:ea typeface="Nirmala UI"/>
                <a:cs typeface="Nirmala UI"/>
              </a:rPr>
              <a:t>पानी</a:t>
            </a:r>
          </a:p>
        </p:txBody>
      </p:sp>
      <p:sp>
        <p:nvSpPr>
          <p:cNvPr id="23" name="TextBox 22"/>
          <p:cNvSpPr txBox="1"/>
          <p:nvPr/>
        </p:nvSpPr>
        <p:spPr>
          <a:xfrm>
            <a:off x="10332720" y="3931920"/>
            <a:ext cx="1005840" cy="365760"/>
          </a:xfrm>
          <a:prstGeom prst="rect">
            <a:avLst/>
          </a:prstGeom>
          <a:noFill/>
        </p:spPr>
        <p:txBody>
          <a:bodyPr wrap="square" anchor="t">
            <a:spAutoFit/>
          </a:bodyPr>
          <a:lstStyle/>
          <a:p>
            <a:pPr algn="r">
              <a:lnSpc>
                <a:spcPct val="115000"/>
              </a:lnSpc>
            </a:pPr>
            <a:r>
              <a:rPr sz="1500" b="1">
                <a:solidFill>
                  <a:srgbClr val="16A34A"/>
                </a:solidFill>
                <a:latin typeface="Nirmala UI"/>
                <a:ea typeface="Nirmala UI"/>
                <a:cs typeface="Nirmala UI"/>
              </a:rPr>
              <a:t>35%</a:t>
            </a:r>
          </a:p>
        </p:txBody>
      </p:sp>
      <p:sp>
        <p:nvSpPr>
          <p:cNvPr id="24" name="Rounded Rectangle 23"/>
          <p:cNvSpPr/>
          <p:nvPr/>
        </p:nvSpPr>
        <p:spPr>
          <a:xfrm>
            <a:off x="6629400" y="4343400"/>
            <a:ext cx="4663440" cy="256032"/>
          </a:xfrm>
          <a:prstGeom prst="roundRect">
            <a:avLst>
              <a:gd name="adj" fmla="val 50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29400" y="4343400"/>
            <a:ext cx="1632203" cy="256032"/>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4800600"/>
            <a:ext cx="2743200" cy="365760"/>
          </a:xfrm>
          <a:prstGeom prst="rect">
            <a:avLst/>
          </a:prstGeom>
          <a:noFill/>
        </p:spPr>
        <p:txBody>
          <a:bodyPr wrap="square" anchor="t">
            <a:spAutoFit/>
          </a:bodyPr>
          <a:lstStyle/>
          <a:p>
            <a:pPr algn="l">
              <a:lnSpc>
                <a:spcPct val="115000"/>
              </a:lnSpc>
            </a:pPr>
            <a:r>
              <a:rPr sz="1500" b="0">
                <a:solidFill>
                  <a:srgbClr val="1F2937"/>
                </a:solidFill>
                <a:latin typeface="Nirmala UI"/>
                <a:ea typeface="Nirmala UI"/>
                <a:cs typeface="Nirmala UI"/>
              </a:rPr>
              <a:t>शिक्षा</a:t>
            </a:r>
          </a:p>
        </p:txBody>
      </p:sp>
      <p:sp>
        <p:nvSpPr>
          <p:cNvPr id="27" name="TextBox 26"/>
          <p:cNvSpPr txBox="1"/>
          <p:nvPr/>
        </p:nvSpPr>
        <p:spPr>
          <a:xfrm>
            <a:off x="10332720" y="4800600"/>
            <a:ext cx="1005840" cy="365760"/>
          </a:xfrm>
          <a:prstGeom prst="rect">
            <a:avLst/>
          </a:prstGeom>
          <a:noFill/>
        </p:spPr>
        <p:txBody>
          <a:bodyPr wrap="square" anchor="t">
            <a:spAutoFit/>
          </a:bodyPr>
          <a:lstStyle/>
          <a:p>
            <a:pPr algn="r">
              <a:lnSpc>
                <a:spcPct val="115000"/>
              </a:lnSpc>
            </a:pPr>
            <a:r>
              <a:rPr sz="1500" b="1">
                <a:solidFill>
                  <a:srgbClr val="16A34A"/>
                </a:solidFill>
                <a:latin typeface="Nirmala UI"/>
                <a:ea typeface="Nirmala UI"/>
                <a:cs typeface="Nirmala UI"/>
              </a:rPr>
              <a:t>20%</a:t>
            </a:r>
          </a:p>
        </p:txBody>
      </p:sp>
      <p:sp>
        <p:nvSpPr>
          <p:cNvPr id="28" name="Rounded Rectangle 27"/>
          <p:cNvSpPr/>
          <p:nvPr/>
        </p:nvSpPr>
        <p:spPr>
          <a:xfrm>
            <a:off x="6629400" y="5212080"/>
            <a:ext cx="4663440" cy="256032"/>
          </a:xfrm>
          <a:prstGeom prst="roundRect">
            <a:avLst>
              <a:gd name="adj" fmla="val 50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629400" y="5212080"/>
            <a:ext cx="932688" cy="256032"/>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5669280"/>
            <a:ext cx="4846320" cy="365760"/>
          </a:xfrm>
          <a:prstGeom prst="rect">
            <a:avLst/>
          </a:prstGeom>
          <a:noFill/>
        </p:spPr>
        <p:txBody>
          <a:bodyPr wrap="square" anchor="t">
            <a:spAutoFit/>
          </a:bodyPr>
          <a:lstStyle/>
          <a:p>
            <a:pPr algn="l">
              <a:lnSpc>
                <a:spcPct val="115000"/>
              </a:lnSpc>
            </a:pPr>
            <a:r>
              <a:rPr sz="1200" b="0">
                <a:solidFill>
                  <a:srgbClr val="6B7280"/>
                </a:solidFill>
                <a:latin typeface="Nirmala UI"/>
                <a:ea typeface="Nirmala UI"/>
                <a:cs typeface="Nirmala UI"/>
              </a:rPr>
              <a:t>कुल वोट: 1,248   (उदाहरण)</a:t>
            </a:r>
          </a:p>
        </p:txBody>
      </p:sp>
      <p:sp>
        <p:nvSpPr>
          <p:cNvPr id="31" name="Rectangle 30"/>
          <p:cNvSpPr/>
          <p:nvPr/>
        </p:nvSpPr>
        <p:spPr>
          <a:xfrm>
            <a:off x="0" y="6492240"/>
            <a:ext cx="12191695" cy="36576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510528"/>
            <a:ext cx="5486400" cy="320040"/>
          </a:xfrm>
          <a:prstGeom prst="rect">
            <a:avLst/>
          </a:prstGeom>
          <a:noFill/>
        </p:spPr>
        <p:txBody>
          <a:bodyPr wrap="square" anchor="ctr">
            <a:spAutoFit/>
          </a:bodyPr>
          <a:lstStyle/>
          <a:p>
            <a:pPr algn="l">
              <a:lnSpc>
                <a:spcPct val="115000"/>
              </a:lnSpc>
            </a:pPr>
            <a:r>
              <a:rPr sz="1100" b="1">
                <a:solidFill>
                  <a:srgbClr val="0B5D3B"/>
                </a:solidFill>
                <a:latin typeface="Nirmala UI"/>
                <a:ea typeface="Nirmala UI"/>
                <a:cs typeface="Nirmala UI"/>
              </a:rPr>
              <a:t>🗳️ JanPoll.in  |  राजस्थान की आवाज़</a:t>
            </a:r>
          </a:p>
        </p:txBody>
      </p:sp>
      <p:sp>
        <p:nvSpPr>
          <p:cNvPr id="33" name="TextBox 32"/>
          <p:cNvSpPr txBox="1"/>
          <p:nvPr/>
        </p:nvSpPr>
        <p:spPr>
          <a:xfrm>
            <a:off x="10607040" y="6510528"/>
            <a:ext cx="914400" cy="320040"/>
          </a:xfrm>
          <a:prstGeom prst="rect">
            <a:avLst/>
          </a:prstGeom>
          <a:noFill/>
        </p:spPr>
        <p:txBody>
          <a:bodyPr wrap="square" anchor="ctr">
            <a:spAutoFit/>
          </a:bodyPr>
          <a:lstStyle/>
          <a:p>
            <a:pPr algn="r">
              <a:lnSpc>
                <a:spcPct val="115000"/>
              </a:lnSpc>
            </a:pPr>
            <a:r>
              <a:rPr sz="1100" b="0">
                <a:solidFill>
                  <a:srgbClr val="6B7280"/>
                </a:solidFill>
                <a:latin typeface="Nirmala UI"/>
                <a:ea typeface="Nirmala UI"/>
                <a:cs typeface="Nirmala UI"/>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109728" cy="7772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84048"/>
            <a:ext cx="10058400" cy="640080"/>
          </a:xfrm>
          <a:prstGeom prst="rect">
            <a:avLst/>
          </a:prstGeom>
          <a:noFill/>
        </p:spPr>
        <p:txBody>
          <a:bodyPr wrap="square" anchor="t">
            <a:spAutoFit/>
          </a:bodyPr>
          <a:lstStyle/>
          <a:p>
            <a:pPr algn="l">
              <a:lnSpc>
                <a:spcPct val="115000"/>
              </a:lnSpc>
            </a:pPr>
            <a:r>
              <a:rPr sz="3400" b="1">
                <a:solidFill>
                  <a:srgbClr val="0B5D3B"/>
                </a:solidFill>
                <a:latin typeface="Nirmala UI"/>
                <a:ea typeface="Nirmala UI"/>
                <a:cs typeface="Nirmala UI"/>
              </a:rPr>
              <a:t>मुख्य विशेषताएँ</a:t>
            </a:r>
          </a:p>
        </p:txBody>
      </p:sp>
      <p:sp>
        <p:nvSpPr>
          <p:cNvPr id="5" name="TextBox 4"/>
          <p:cNvSpPr txBox="1"/>
          <p:nvPr/>
        </p:nvSpPr>
        <p:spPr>
          <a:xfrm>
            <a:off x="868680" y="960120"/>
            <a:ext cx="10058400" cy="365760"/>
          </a:xfrm>
          <a:prstGeom prst="rect">
            <a:avLst/>
          </a:prstGeom>
          <a:noFill/>
        </p:spPr>
        <p:txBody>
          <a:bodyPr wrap="square" anchor="t">
            <a:spAutoFit/>
          </a:bodyPr>
          <a:lstStyle/>
          <a:p>
            <a:pPr algn="l">
              <a:lnSpc>
                <a:spcPct val="115000"/>
              </a:lnSpc>
            </a:pPr>
            <a:r>
              <a:rPr sz="1400" b="0">
                <a:solidFill>
                  <a:srgbClr val="6B7280"/>
                </a:solidFill>
                <a:latin typeface="Nirmala UI"/>
                <a:ea typeface="Nirmala UI"/>
                <a:cs typeface="Nirmala UI"/>
              </a:rPr>
              <a:t>Key Features</a:t>
            </a:r>
          </a:p>
        </p:txBody>
      </p:sp>
      <p:sp>
        <p:nvSpPr>
          <p:cNvPr id="6" name="Rounded Rectangle 5"/>
          <p:cNvSpPr/>
          <p:nvPr/>
        </p:nvSpPr>
        <p:spPr>
          <a:xfrm>
            <a:off x="640080" y="1600200"/>
            <a:ext cx="3520440" cy="2788920"/>
          </a:xfrm>
          <a:prstGeom prst="roundRect">
            <a:avLst>
              <a:gd name="adj" fmla="val 7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19" y="1600200"/>
            <a:ext cx="1097280" cy="7315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19" y="19659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600" b="0">
                <a:solidFill>
                  <a:srgbClr val="0B5D3B"/>
                </a:solidFill>
                <a:latin typeface="Nirmala UI"/>
                <a:ea typeface="Nirmala UI"/>
                <a:cs typeface="Nirmala UI"/>
              </a:rPr>
              <a:t>📍</a:t>
            </a:r>
          </a:p>
        </p:txBody>
      </p:sp>
      <p:sp>
        <p:nvSpPr>
          <p:cNvPr id="9" name="TextBox 8"/>
          <p:cNvSpPr txBox="1"/>
          <p:nvPr/>
        </p:nvSpPr>
        <p:spPr>
          <a:xfrm>
            <a:off x="914400" y="2971800"/>
            <a:ext cx="3108960" cy="457200"/>
          </a:xfrm>
          <a:prstGeom prst="rect">
            <a:avLst/>
          </a:prstGeom>
          <a:noFill/>
        </p:spPr>
        <p:txBody>
          <a:bodyPr wrap="square" anchor="t">
            <a:spAutoFit/>
          </a:bodyPr>
          <a:lstStyle/>
          <a:p>
            <a:pPr algn="l">
              <a:lnSpc>
                <a:spcPct val="115000"/>
              </a:lnSpc>
            </a:pPr>
            <a:r>
              <a:rPr sz="2000" b="1">
                <a:solidFill>
                  <a:srgbClr val="0B5D3B"/>
                </a:solidFill>
                <a:latin typeface="Nirmala UI"/>
                <a:ea typeface="Nirmala UI"/>
                <a:cs typeface="Nirmala UI"/>
              </a:rPr>
              <a:t>हर स्तर की कैटेगरी</a:t>
            </a:r>
          </a:p>
        </p:txBody>
      </p:sp>
      <p:sp>
        <p:nvSpPr>
          <p:cNvPr id="10" name="TextBox 9"/>
          <p:cNvSpPr txBox="1"/>
          <p:nvPr/>
        </p:nvSpPr>
        <p:spPr>
          <a:xfrm>
            <a:off x="914400" y="3474720"/>
            <a:ext cx="3108960" cy="822960"/>
          </a:xfrm>
          <a:prstGeom prst="rect">
            <a:avLst/>
          </a:prstGeom>
          <a:noFill/>
        </p:spPr>
        <p:txBody>
          <a:bodyPr wrap="square" anchor="t">
            <a:spAutoFit/>
          </a:bodyPr>
          <a:lstStyle/>
          <a:p>
            <a:pPr algn="l">
              <a:lnSpc>
                <a:spcPct val="115000"/>
              </a:lnSpc>
            </a:pPr>
            <a:r>
              <a:rPr sz="1400" b="0">
                <a:solidFill>
                  <a:srgbClr val="6B7280"/>
                </a:solidFill>
                <a:latin typeface="Nirmala UI"/>
                <a:ea typeface="Nirmala UI"/>
                <a:cs typeface="Nirmala UI"/>
              </a:rPr>
              <a:t>जिला, मण्डल और पंचायत</a:t>
            </a:r>
          </a:p>
          <a:p>
            <a:pPr algn="l">
              <a:lnSpc>
                <a:spcPct val="115000"/>
              </a:lnSpc>
            </a:pPr>
            <a:r>
              <a:rPr sz="1400" b="0">
                <a:solidFill>
                  <a:srgbClr val="6B7280"/>
                </a:solidFill>
                <a:latin typeface="Nirmala UI"/>
                <a:ea typeface="Nirmala UI"/>
                <a:cs typeface="Nirmala UI"/>
              </a:rPr>
              <a:t>स्तर तक के पोल</a:t>
            </a:r>
          </a:p>
        </p:txBody>
      </p:sp>
      <p:sp>
        <p:nvSpPr>
          <p:cNvPr id="11" name="Rounded Rectangle 10"/>
          <p:cNvSpPr/>
          <p:nvPr/>
        </p:nvSpPr>
        <p:spPr>
          <a:xfrm>
            <a:off x="4343400" y="1600200"/>
            <a:ext cx="3520440" cy="2788920"/>
          </a:xfrm>
          <a:prstGeom prst="roundRect">
            <a:avLst>
              <a:gd name="adj" fmla="val 7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63440" y="1600200"/>
            <a:ext cx="1097280" cy="7315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3440" y="19659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600" b="0">
                <a:solidFill>
                  <a:srgbClr val="0B5D3B"/>
                </a:solidFill>
                <a:latin typeface="Nirmala UI"/>
                <a:ea typeface="Nirmala UI"/>
                <a:cs typeface="Nirmala UI"/>
              </a:rPr>
              <a:t>🗳️</a:t>
            </a:r>
          </a:p>
        </p:txBody>
      </p:sp>
      <p:sp>
        <p:nvSpPr>
          <p:cNvPr id="14" name="TextBox 13"/>
          <p:cNvSpPr txBox="1"/>
          <p:nvPr/>
        </p:nvSpPr>
        <p:spPr>
          <a:xfrm>
            <a:off x="4617720" y="2971800"/>
            <a:ext cx="3108960" cy="457200"/>
          </a:xfrm>
          <a:prstGeom prst="rect">
            <a:avLst/>
          </a:prstGeom>
          <a:noFill/>
        </p:spPr>
        <p:txBody>
          <a:bodyPr wrap="square" anchor="t">
            <a:spAutoFit/>
          </a:bodyPr>
          <a:lstStyle/>
          <a:p>
            <a:pPr algn="l">
              <a:lnSpc>
                <a:spcPct val="115000"/>
              </a:lnSpc>
            </a:pPr>
            <a:r>
              <a:rPr sz="2000" b="1">
                <a:solidFill>
                  <a:srgbClr val="0B5D3B"/>
                </a:solidFill>
                <a:latin typeface="Nirmala UI"/>
                <a:ea typeface="Nirmala UI"/>
                <a:cs typeface="Nirmala UI"/>
              </a:rPr>
              <a:t>लाइव वोटिंग</a:t>
            </a:r>
          </a:p>
        </p:txBody>
      </p:sp>
      <p:sp>
        <p:nvSpPr>
          <p:cNvPr id="15" name="TextBox 14"/>
          <p:cNvSpPr txBox="1"/>
          <p:nvPr/>
        </p:nvSpPr>
        <p:spPr>
          <a:xfrm>
            <a:off x="4617720" y="3474720"/>
            <a:ext cx="3108960" cy="822960"/>
          </a:xfrm>
          <a:prstGeom prst="rect">
            <a:avLst/>
          </a:prstGeom>
          <a:noFill/>
        </p:spPr>
        <p:txBody>
          <a:bodyPr wrap="square" anchor="t">
            <a:spAutoFit/>
          </a:bodyPr>
          <a:lstStyle/>
          <a:p>
            <a:pPr algn="l">
              <a:lnSpc>
                <a:spcPct val="115000"/>
              </a:lnSpc>
            </a:pPr>
            <a:r>
              <a:rPr sz="1400" b="0">
                <a:solidFill>
                  <a:srgbClr val="6B7280"/>
                </a:solidFill>
                <a:latin typeface="Nirmala UI"/>
                <a:ea typeface="Nirmala UI"/>
                <a:cs typeface="Nirmala UI"/>
              </a:rPr>
              <a:t>रियल-टाइम नतीजे और</a:t>
            </a:r>
          </a:p>
          <a:p>
            <a:pPr algn="l">
              <a:lnSpc>
                <a:spcPct val="115000"/>
              </a:lnSpc>
            </a:pPr>
            <a:r>
              <a:rPr sz="1400" b="0">
                <a:solidFill>
                  <a:srgbClr val="6B7280"/>
                </a:solidFill>
                <a:latin typeface="Nirmala UI"/>
                <a:ea typeface="Nirmala UI"/>
                <a:cs typeface="Nirmala UI"/>
              </a:rPr>
              <a:t>प्रतिशत बार</a:t>
            </a:r>
          </a:p>
        </p:txBody>
      </p:sp>
      <p:sp>
        <p:nvSpPr>
          <p:cNvPr id="16" name="Rounded Rectangle 15"/>
          <p:cNvSpPr/>
          <p:nvPr/>
        </p:nvSpPr>
        <p:spPr>
          <a:xfrm>
            <a:off x="8046719" y="1600200"/>
            <a:ext cx="3520440" cy="2788920"/>
          </a:xfrm>
          <a:prstGeom prst="roundRect">
            <a:avLst>
              <a:gd name="adj" fmla="val 7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66759" y="1600200"/>
            <a:ext cx="1097280" cy="7315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66759" y="19659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600" b="0">
                <a:solidFill>
                  <a:srgbClr val="0B5D3B"/>
                </a:solidFill>
                <a:latin typeface="Nirmala UI"/>
                <a:ea typeface="Nirmala UI"/>
                <a:cs typeface="Nirmala UI"/>
              </a:rPr>
              <a:t>📁</a:t>
            </a:r>
          </a:p>
        </p:txBody>
      </p:sp>
      <p:sp>
        <p:nvSpPr>
          <p:cNvPr id="19" name="TextBox 18"/>
          <p:cNvSpPr txBox="1"/>
          <p:nvPr/>
        </p:nvSpPr>
        <p:spPr>
          <a:xfrm>
            <a:off x="8321040" y="2971800"/>
            <a:ext cx="3108960" cy="457200"/>
          </a:xfrm>
          <a:prstGeom prst="rect">
            <a:avLst/>
          </a:prstGeom>
          <a:noFill/>
        </p:spPr>
        <p:txBody>
          <a:bodyPr wrap="square" anchor="t">
            <a:spAutoFit/>
          </a:bodyPr>
          <a:lstStyle/>
          <a:p>
            <a:pPr algn="l">
              <a:lnSpc>
                <a:spcPct val="115000"/>
              </a:lnSpc>
            </a:pPr>
            <a:r>
              <a:rPr sz="2000" b="1">
                <a:solidFill>
                  <a:srgbClr val="0B5D3B"/>
                </a:solidFill>
                <a:latin typeface="Nirmala UI"/>
                <a:ea typeface="Nirmala UI"/>
                <a:cs typeface="Nirmala UI"/>
              </a:rPr>
              <a:t>पुराने पोल्स का इतिहास</a:t>
            </a:r>
          </a:p>
        </p:txBody>
      </p:sp>
      <p:sp>
        <p:nvSpPr>
          <p:cNvPr id="20" name="TextBox 19"/>
          <p:cNvSpPr txBox="1"/>
          <p:nvPr/>
        </p:nvSpPr>
        <p:spPr>
          <a:xfrm>
            <a:off x="8321040" y="3474720"/>
            <a:ext cx="3108960" cy="822960"/>
          </a:xfrm>
          <a:prstGeom prst="rect">
            <a:avLst/>
          </a:prstGeom>
          <a:noFill/>
        </p:spPr>
        <p:txBody>
          <a:bodyPr wrap="square" anchor="t">
            <a:spAutoFit/>
          </a:bodyPr>
          <a:lstStyle/>
          <a:p>
            <a:pPr algn="l">
              <a:lnSpc>
                <a:spcPct val="115000"/>
              </a:lnSpc>
            </a:pPr>
            <a:r>
              <a:rPr sz="1400" b="0">
                <a:solidFill>
                  <a:srgbClr val="6B7280"/>
                </a:solidFill>
                <a:latin typeface="Nirmala UI"/>
                <a:ea typeface="Nirmala UI"/>
                <a:cs typeface="Nirmala UI"/>
              </a:rPr>
              <a:t>समाप्त हो चुके पोल्स</a:t>
            </a:r>
          </a:p>
          <a:p>
            <a:pPr algn="l">
              <a:lnSpc>
                <a:spcPct val="115000"/>
              </a:lnSpc>
            </a:pPr>
            <a:r>
              <a:rPr sz="1400" b="0">
                <a:solidFill>
                  <a:srgbClr val="6B7280"/>
                </a:solidFill>
                <a:latin typeface="Nirmala UI"/>
                <a:ea typeface="Nirmala UI"/>
                <a:cs typeface="Nirmala UI"/>
              </a:rPr>
              <a:t>(Closed Polls) भी देखें</a:t>
            </a:r>
          </a:p>
        </p:txBody>
      </p:sp>
      <p:sp>
        <p:nvSpPr>
          <p:cNvPr id="21" name="TextBox 20"/>
          <p:cNvSpPr txBox="1"/>
          <p:nvPr/>
        </p:nvSpPr>
        <p:spPr>
          <a:xfrm>
            <a:off x="640080" y="4572000"/>
            <a:ext cx="7315200" cy="365760"/>
          </a:xfrm>
          <a:prstGeom prst="rect">
            <a:avLst/>
          </a:prstGeom>
          <a:noFill/>
        </p:spPr>
        <p:txBody>
          <a:bodyPr wrap="square" anchor="t">
            <a:spAutoFit/>
          </a:bodyPr>
          <a:lstStyle/>
          <a:p>
            <a:pPr algn="l">
              <a:lnSpc>
                <a:spcPct val="115000"/>
              </a:lnSpc>
            </a:pPr>
            <a:r>
              <a:rPr sz="1400" b="1">
                <a:solidFill>
                  <a:srgbClr val="6B7280"/>
                </a:solidFill>
                <a:latin typeface="Nirmala UI"/>
                <a:ea typeface="Nirmala UI"/>
                <a:cs typeface="Nirmala UI"/>
              </a:rPr>
              <a:t>त्रि-स्तरीय पंचायत राज व्यवस्था — पूरा डेटा एक जगह</a:t>
            </a:r>
          </a:p>
        </p:txBody>
      </p:sp>
      <p:sp>
        <p:nvSpPr>
          <p:cNvPr id="22" name="Pentagon 21"/>
          <p:cNvSpPr/>
          <p:nvPr/>
        </p:nvSpPr>
        <p:spPr>
          <a:xfrm>
            <a:off x="640080" y="4983480"/>
            <a:ext cx="3794760" cy="868680"/>
          </a:xfrm>
          <a:prstGeom prst="homePlate">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000" b="1">
                <a:solidFill>
                  <a:srgbClr val="FFFFFF"/>
                </a:solidFill>
                <a:latin typeface="Nirmala UI"/>
                <a:ea typeface="Nirmala UI"/>
                <a:cs typeface="Nirmala UI"/>
              </a:rPr>
              <a:t>जिला परिषद</a:t>
            </a:r>
          </a:p>
        </p:txBody>
      </p:sp>
      <p:sp>
        <p:nvSpPr>
          <p:cNvPr id="23" name="Chevron 22"/>
          <p:cNvSpPr/>
          <p:nvPr/>
        </p:nvSpPr>
        <p:spPr>
          <a:xfrm>
            <a:off x="4251960" y="4983480"/>
            <a:ext cx="3794760" cy="868680"/>
          </a:xfrm>
          <a:prstGeom prst="chevron">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000" b="1">
                <a:solidFill>
                  <a:srgbClr val="FFFFFF"/>
                </a:solidFill>
                <a:latin typeface="Nirmala UI"/>
                <a:ea typeface="Nirmala UI"/>
                <a:cs typeface="Nirmala UI"/>
              </a:rPr>
              <a:t>पंचायत समिति</a:t>
            </a:r>
          </a:p>
        </p:txBody>
      </p:sp>
      <p:sp>
        <p:nvSpPr>
          <p:cNvPr id="24" name="Chevron 23"/>
          <p:cNvSpPr/>
          <p:nvPr/>
        </p:nvSpPr>
        <p:spPr>
          <a:xfrm>
            <a:off x="7863840" y="4983480"/>
            <a:ext cx="3794760" cy="868680"/>
          </a:xfrm>
          <a:prstGeom prst="chevron">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000" b="1">
                <a:solidFill>
                  <a:srgbClr val="FFFFFF"/>
                </a:solidFill>
                <a:latin typeface="Nirmala UI"/>
                <a:ea typeface="Nirmala UI"/>
                <a:cs typeface="Nirmala UI"/>
              </a:rPr>
              <a:t>ग्राम पंचायत</a:t>
            </a:r>
          </a:p>
        </p:txBody>
      </p:sp>
      <p:sp>
        <p:nvSpPr>
          <p:cNvPr id="25" name="Rectangle 24"/>
          <p:cNvSpPr/>
          <p:nvPr/>
        </p:nvSpPr>
        <p:spPr>
          <a:xfrm>
            <a:off x="0" y="6492240"/>
            <a:ext cx="12191695" cy="36576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510528"/>
            <a:ext cx="5486400" cy="320040"/>
          </a:xfrm>
          <a:prstGeom prst="rect">
            <a:avLst/>
          </a:prstGeom>
          <a:noFill/>
        </p:spPr>
        <p:txBody>
          <a:bodyPr wrap="square" anchor="ctr">
            <a:spAutoFit/>
          </a:bodyPr>
          <a:lstStyle/>
          <a:p>
            <a:pPr algn="l">
              <a:lnSpc>
                <a:spcPct val="115000"/>
              </a:lnSpc>
            </a:pPr>
            <a:r>
              <a:rPr sz="1100" b="1">
                <a:solidFill>
                  <a:srgbClr val="0B5D3B"/>
                </a:solidFill>
                <a:latin typeface="Nirmala UI"/>
                <a:ea typeface="Nirmala UI"/>
                <a:cs typeface="Nirmala UI"/>
              </a:rPr>
              <a:t>🗳️ JanPoll.in  |  राजस्थान की आवाज़</a:t>
            </a:r>
          </a:p>
        </p:txBody>
      </p:sp>
      <p:sp>
        <p:nvSpPr>
          <p:cNvPr id="27" name="TextBox 26"/>
          <p:cNvSpPr txBox="1"/>
          <p:nvPr/>
        </p:nvSpPr>
        <p:spPr>
          <a:xfrm>
            <a:off x="10607040" y="6510528"/>
            <a:ext cx="914400" cy="320040"/>
          </a:xfrm>
          <a:prstGeom prst="rect">
            <a:avLst/>
          </a:prstGeom>
          <a:noFill/>
        </p:spPr>
        <p:txBody>
          <a:bodyPr wrap="square" anchor="ctr">
            <a:spAutoFit/>
          </a:bodyPr>
          <a:lstStyle/>
          <a:p>
            <a:pPr algn="r">
              <a:lnSpc>
                <a:spcPct val="115000"/>
              </a:lnSpc>
            </a:pPr>
            <a:r>
              <a:rPr sz="1100" b="0">
                <a:solidFill>
                  <a:srgbClr val="6B7280"/>
                </a:solidFill>
                <a:latin typeface="Nirmala UI"/>
                <a:ea typeface="Nirmala UI"/>
                <a:cs typeface="Nirmala UI"/>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02920"/>
            <a:ext cx="109728" cy="7772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84048"/>
            <a:ext cx="10058400" cy="640080"/>
          </a:xfrm>
          <a:prstGeom prst="rect">
            <a:avLst/>
          </a:prstGeom>
          <a:noFill/>
        </p:spPr>
        <p:txBody>
          <a:bodyPr wrap="square" anchor="t">
            <a:spAutoFit/>
          </a:bodyPr>
          <a:lstStyle/>
          <a:p>
            <a:pPr algn="l">
              <a:lnSpc>
                <a:spcPct val="115000"/>
              </a:lnSpc>
            </a:pPr>
            <a:r>
              <a:rPr sz="3400" b="1">
                <a:solidFill>
                  <a:srgbClr val="0B5D3B"/>
                </a:solidFill>
                <a:latin typeface="Nirmala UI"/>
                <a:ea typeface="Nirmala UI"/>
                <a:cs typeface="Nirmala UI"/>
              </a:rPr>
              <a:t>पोल कैसे बनाएं और वोट करें?</a:t>
            </a:r>
          </a:p>
        </p:txBody>
      </p:sp>
      <p:sp>
        <p:nvSpPr>
          <p:cNvPr id="5" name="TextBox 4"/>
          <p:cNvSpPr txBox="1"/>
          <p:nvPr/>
        </p:nvSpPr>
        <p:spPr>
          <a:xfrm>
            <a:off x="868680" y="960120"/>
            <a:ext cx="10058400" cy="365760"/>
          </a:xfrm>
          <a:prstGeom prst="rect">
            <a:avLst/>
          </a:prstGeom>
          <a:noFill/>
        </p:spPr>
        <p:txBody>
          <a:bodyPr wrap="square" anchor="t">
            <a:spAutoFit/>
          </a:bodyPr>
          <a:lstStyle/>
          <a:p>
            <a:pPr algn="l">
              <a:lnSpc>
                <a:spcPct val="115000"/>
              </a:lnSpc>
            </a:pPr>
            <a:r>
              <a:rPr sz="1400" b="0">
                <a:solidFill>
                  <a:srgbClr val="6B7280"/>
                </a:solidFill>
                <a:latin typeface="Nirmala UI"/>
                <a:ea typeface="Nirmala UI"/>
                <a:cs typeface="Nirmala UI"/>
              </a:rPr>
              <a:t>How it Works</a:t>
            </a:r>
          </a:p>
        </p:txBody>
      </p:sp>
      <p:sp>
        <p:nvSpPr>
          <p:cNvPr id="6" name="Rounded Rectangle 5"/>
          <p:cNvSpPr/>
          <p:nvPr/>
        </p:nvSpPr>
        <p:spPr>
          <a:xfrm>
            <a:off x="640080" y="1737360"/>
            <a:ext cx="2423160" cy="2743200"/>
          </a:xfrm>
          <a:prstGeom prst="roundRect">
            <a:avLst>
              <a:gd name="adj" fmla="val 8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40180" y="1965960"/>
            <a:ext cx="822960" cy="82296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600" b="1">
                <a:solidFill>
                  <a:srgbClr val="FFFFFF"/>
                </a:solidFill>
                <a:latin typeface="Nirmala UI"/>
                <a:ea typeface="Nirmala UI"/>
                <a:cs typeface="Nirmala UI"/>
              </a:rPr>
              <a:t>1</a:t>
            </a:r>
          </a:p>
        </p:txBody>
      </p:sp>
      <p:sp>
        <p:nvSpPr>
          <p:cNvPr id="8" name="TextBox 7"/>
          <p:cNvSpPr txBox="1"/>
          <p:nvPr/>
        </p:nvSpPr>
        <p:spPr>
          <a:xfrm>
            <a:off x="640080" y="2971800"/>
            <a:ext cx="2423160" cy="457200"/>
          </a:xfrm>
          <a:prstGeom prst="rect">
            <a:avLst/>
          </a:prstGeom>
          <a:noFill/>
        </p:spPr>
        <p:txBody>
          <a:bodyPr wrap="square" anchor="t">
            <a:spAutoFit/>
          </a:bodyPr>
          <a:lstStyle/>
          <a:p>
            <a:pPr algn="ctr">
              <a:lnSpc>
                <a:spcPct val="115000"/>
              </a:lnSpc>
            </a:pPr>
            <a:r>
              <a:rPr sz="1800" b="1">
                <a:solidFill>
                  <a:srgbClr val="0B5D3B"/>
                </a:solidFill>
                <a:latin typeface="Nirmala UI"/>
                <a:ea typeface="Nirmala UI"/>
                <a:cs typeface="Nirmala UI"/>
              </a:rPr>
              <a:t>गूगल लॉगिन</a:t>
            </a:r>
          </a:p>
        </p:txBody>
      </p:sp>
      <p:sp>
        <p:nvSpPr>
          <p:cNvPr id="9" name="TextBox 8"/>
          <p:cNvSpPr txBox="1"/>
          <p:nvPr/>
        </p:nvSpPr>
        <p:spPr>
          <a:xfrm>
            <a:off x="640080" y="3474720"/>
            <a:ext cx="2423160" cy="822960"/>
          </a:xfrm>
          <a:prstGeom prst="rect">
            <a:avLst/>
          </a:prstGeom>
          <a:noFill/>
        </p:spPr>
        <p:txBody>
          <a:bodyPr wrap="square" anchor="t">
            <a:spAutoFit/>
          </a:bodyPr>
          <a:lstStyle/>
          <a:p>
            <a:pPr algn="ctr">
              <a:lnSpc>
                <a:spcPct val="115000"/>
              </a:lnSpc>
            </a:pPr>
            <a:r>
              <a:rPr sz="1300" b="0">
                <a:solidFill>
                  <a:srgbClr val="6B7280"/>
                </a:solidFill>
                <a:latin typeface="Nirmala UI"/>
                <a:ea typeface="Nirmala UI"/>
                <a:cs typeface="Nirmala UI"/>
              </a:rPr>
              <a:t>अपने Google अकाउंट</a:t>
            </a:r>
          </a:p>
          <a:p>
            <a:pPr algn="ctr">
              <a:lnSpc>
                <a:spcPct val="115000"/>
              </a:lnSpc>
            </a:pPr>
            <a:r>
              <a:rPr sz="1300" b="0">
                <a:solidFill>
                  <a:srgbClr val="6B7280"/>
                </a:solidFill>
                <a:latin typeface="Nirmala UI"/>
                <a:ea typeface="Nirmala UI"/>
                <a:cs typeface="Nirmala UI"/>
              </a:rPr>
              <a:t>से सुरक्षित लॉगिन</a:t>
            </a:r>
          </a:p>
        </p:txBody>
      </p:sp>
      <p:sp>
        <p:nvSpPr>
          <p:cNvPr id="10" name="Right Arrow 9"/>
          <p:cNvSpPr/>
          <p:nvPr/>
        </p:nvSpPr>
        <p:spPr>
          <a:xfrm>
            <a:off x="3136391" y="2926080"/>
            <a:ext cx="274320" cy="32004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4720" y="1737360"/>
            <a:ext cx="2423160" cy="2743200"/>
          </a:xfrm>
          <a:prstGeom prst="roundRect">
            <a:avLst>
              <a:gd name="adj" fmla="val 8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74820" y="1965960"/>
            <a:ext cx="822960" cy="82296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600" b="1">
                <a:solidFill>
                  <a:srgbClr val="FFFFFF"/>
                </a:solidFill>
                <a:latin typeface="Nirmala UI"/>
                <a:ea typeface="Nirmala UI"/>
                <a:cs typeface="Nirmala UI"/>
              </a:rPr>
              <a:t>2</a:t>
            </a:r>
          </a:p>
        </p:txBody>
      </p:sp>
      <p:sp>
        <p:nvSpPr>
          <p:cNvPr id="13" name="TextBox 12"/>
          <p:cNvSpPr txBox="1"/>
          <p:nvPr/>
        </p:nvSpPr>
        <p:spPr>
          <a:xfrm>
            <a:off x="3474720" y="2971800"/>
            <a:ext cx="2423160" cy="457200"/>
          </a:xfrm>
          <a:prstGeom prst="rect">
            <a:avLst/>
          </a:prstGeom>
          <a:noFill/>
        </p:spPr>
        <p:txBody>
          <a:bodyPr wrap="square" anchor="t">
            <a:spAutoFit/>
          </a:bodyPr>
          <a:lstStyle/>
          <a:p>
            <a:pPr algn="ctr">
              <a:lnSpc>
                <a:spcPct val="115000"/>
              </a:lnSpc>
            </a:pPr>
            <a:r>
              <a:rPr sz="1800" b="1">
                <a:solidFill>
                  <a:srgbClr val="0B5D3B"/>
                </a:solidFill>
                <a:latin typeface="Nirmala UI"/>
                <a:ea typeface="Nirmala UI"/>
                <a:cs typeface="Nirmala UI"/>
              </a:rPr>
              <a:t>सवाल लिखें</a:t>
            </a:r>
          </a:p>
        </p:txBody>
      </p:sp>
      <p:sp>
        <p:nvSpPr>
          <p:cNvPr id="14" name="TextBox 13"/>
          <p:cNvSpPr txBox="1"/>
          <p:nvPr/>
        </p:nvSpPr>
        <p:spPr>
          <a:xfrm>
            <a:off x="3474720" y="3474720"/>
            <a:ext cx="2423160" cy="822960"/>
          </a:xfrm>
          <a:prstGeom prst="rect">
            <a:avLst/>
          </a:prstGeom>
          <a:noFill/>
        </p:spPr>
        <p:txBody>
          <a:bodyPr wrap="square" anchor="t">
            <a:spAutoFit/>
          </a:bodyPr>
          <a:lstStyle/>
          <a:p>
            <a:pPr algn="ctr">
              <a:lnSpc>
                <a:spcPct val="115000"/>
              </a:lnSpc>
            </a:pPr>
            <a:r>
              <a:rPr sz="1300" b="0">
                <a:solidFill>
                  <a:srgbClr val="6B7280"/>
                </a:solidFill>
                <a:latin typeface="Nirmala UI"/>
                <a:ea typeface="Nirmala UI"/>
                <a:cs typeface="Nirmala UI"/>
              </a:rPr>
              <a:t>अपना मुद्दा या</a:t>
            </a:r>
          </a:p>
          <a:p>
            <a:pPr algn="ctr">
              <a:lnSpc>
                <a:spcPct val="115000"/>
              </a:lnSpc>
            </a:pPr>
            <a:r>
              <a:rPr sz="1300" b="0">
                <a:solidFill>
                  <a:srgbClr val="6B7280"/>
                </a:solidFill>
                <a:latin typeface="Nirmala UI"/>
                <a:ea typeface="Nirmala UI"/>
                <a:cs typeface="Nirmala UI"/>
              </a:rPr>
              <a:t>सवाल डालें</a:t>
            </a:r>
          </a:p>
        </p:txBody>
      </p:sp>
      <p:sp>
        <p:nvSpPr>
          <p:cNvPr id="15" name="Right Arrow 14"/>
          <p:cNvSpPr/>
          <p:nvPr/>
        </p:nvSpPr>
        <p:spPr>
          <a:xfrm>
            <a:off x="5971031" y="2926080"/>
            <a:ext cx="274320" cy="32004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60" y="1737360"/>
            <a:ext cx="2423160" cy="2743200"/>
          </a:xfrm>
          <a:prstGeom prst="roundRect">
            <a:avLst>
              <a:gd name="adj" fmla="val 8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09459" y="1965960"/>
            <a:ext cx="822960" cy="82296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600" b="1">
                <a:solidFill>
                  <a:srgbClr val="FFFFFF"/>
                </a:solidFill>
                <a:latin typeface="Nirmala UI"/>
                <a:ea typeface="Nirmala UI"/>
                <a:cs typeface="Nirmala UI"/>
              </a:rPr>
              <a:t>3</a:t>
            </a:r>
          </a:p>
        </p:txBody>
      </p:sp>
      <p:sp>
        <p:nvSpPr>
          <p:cNvPr id="18" name="TextBox 17"/>
          <p:cNvSpPr txBox="1"/>
          <p:nvPr/>
        </p:nvSpPr>
        <p:spPr>
          <a:xfrm>
            <a:off x="6309360" y="2971800"/>
            <a:ext cx="2423160" cy="457200"/>
          </a:xfrm>
          <a:prstGeom prst="rect">
            <a:avLst/>
          </a:prstGeom>
          <a:noFill/>
        </p:spPr>
        <p:txBody>
          <a:bodyPr wrap="square" anchor="t">
            <a:spAutoFit/>
          </a:bodyPr>
          <a:lstStyle/>
          <a:p>
            <a:pPr algn="ctr">
              <a:lnSpc>
                <a:spcPct val="115000"/>
              </a:lnSpc>
            </a:pPr>
            <a:r>
              <a:rPr sz="1800" b="1">
                <a:solidFill>
                  <a:srgbClr val="0B5D3B"/>
                </a:solidFill>
                <a:latin typeface="Nirmala UI"/>
                <a:ea typeface="Nirmala UI"/>
                <a:cs typeface="Nirmala UI"/>
              </a:rPr>
              <a:t>विकल्प जोड़ें</a:t>
            </a:r>
          </a:p>
        </p:txBody>
      </p:sp>
      <p:sp>
        <p:nvSpPr>
          <p:cNvPr id="19" name="TextBox 18"/>
          <p:cNvSpPr txBox="1"/>
          <p:nvPr/>
        </p:nvSpPr>
        <p:spPr>
          <a:xfrm>
            <a:off x="6309360" y="3474720"/>
            <a:ext cx="2423160" cy="822960"/>
          </a:xfrm>
          <a:prstGeom prst="rect">
            <a:avLst/>
          </a:prstGeom>
          <a:noFill/>
        </p:spPr>
        <p:txBody>
          <a:bodyPr wrap="square" anchor="t">
            <a:spAutoFit/>
          </a:bodyPr>
          <a:lstStyle/>
          <a:p>
            <a:pPr algn="ctr">
              <a:lnSpc>
                <a:spcPct val="115000"/>
              </a:lnSpc>
            </a:pPr>
            <a:r>
              <a:rPr sz="1300" b="0">
                <a:solidFill>
                  <a:srgbClr val="6B7280"/>
                </a:solidFill>
                <a:latin typeface="Nirmala UI"/>
                <a:ea typeface="Nirmala UI"/>
                <a:cs typeface="Nirmala UI"/>
              </a:rPr>
              <a:t>वोटिंग के लिए</a:t>
            </a:r>
          </a:p>
          <a:p>
            <a:pPr algn="ctr">
              <a:lnSpc>
                <a:spcPct val="115000"/>
              </a:lnSpc>
            </a:pPr>
            <a:r>
              <a:rPr sz="1300" b="0">
                <a:solidFill>
                  <a:srgbClr val="6B7280"/>
                </a:solidFill>
                <a:latin typeface="Nirmala UI"/>
                <a:ea typeface="Nirmala UI"/>
                <a:cs typeface="Nirmala UI"/>
              </a:rPr>
              <a:t>ऑप्शन्स भरें</a:t>
            </a:r>
          </a:p>
        </p:txBody>
      </p:sp>
      <p:sp>
        <p:nvSpPr>
          <p:cNvPr id="20" name="Right Arrow 19"/>
          <p:cNvSpPr/>
          <p:nvPr/>
        </p:nvSpPr>
        <p:spPr>
          <a:xfrm>
            <a:off x="8805672" y="2926080"/>
            <a:ext cx="274320" cy="32004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0" y="1737360"/>
            <a:ext cx="2423160" cy="2743200"/>
          </a:xfrm>
          <a:prstGeom prst="roundRect">
            <a:avLst>
              <a:gd name="adj" fmla="val 8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44100" y="19659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600" b="1">
                <a:solidFill>
                  <a:srgbClr val="16A34A"/>
                </a:solidFill>
                <a:latin typeface="Nirmala UI"/>
                <a:ea typeface="Nirmala UI"/>
                <a:cs typeface="Nirmala UI"/>
              </a:rPr>
              <a:t>4</a:t>
            </a:r>
          </a:p>
        </p:txBody>
      </p:sp>
      <p:sp>
        <p:nvSpPr>
          <p:cNvPr id="23" name="TextBox 22"/>
          <p:cNvSpPr txBox="1"/>
          <p:nvPr/>
        </p:nvSpPr>
        <p:spPr>
          <a:xfrm>
            <a:off x="9144000" y="2971800"/>
            <a:ext cx="2423160" cy="457200"/>
          </a:xfrm>
          <a:prstGeom prst="rect">
            <a:avLst/>
          </a:prstGeom>
          <a:noFill/>
        </p:spPr>
        <p:txBody>
          <a:bodyPr wrap="square" anchor="t">
            <a:spAutoFit/>
          </a:bodyPr>
          <a:lstStyle/>
          <a:p>
            <a:pPr algn="ctr">
              <a:lnSpc>
                <a:spcPct val="115000"/>
              </a:lnSpc>
            </a:pPr>
            <a:r>
              <a:rPr sz="1800" b="1">
                <a:solidFill>
                  <a:srgbClr val="FFFFFF"/>
                </a:solidFill>
                <a:latin typeface="Nirmala UI"/>
                <a:ea typeface="Nirmala UI"/>
                <a:cs typeface="Nirmala UI"/>
              </a:rPr>
              <a:t>पोल लाइव! 🎉</a:t>
            </a:r>
          </a:p>
        </p:txBody>
      </p:sp>
      <p:sp>
        <p:nvSpPr>
          <p:cNvPr id="24" name="TextBox 23"/>
          <p:cNvSpPr txBox="1"/>
          <p:nvPr/>
        </p:nvSpPr>
        <p:spPr>
          <a:xfrm>
            <a:off x="9144000" y="3474720"/>
            <a:ext cx="2423160" cy="822960"/>
          </a:xfrm>
          <a:prstGeom prst="rect">
            <a:avLst/>
          </a:prstGeom>
          <a:noFill/>
        </p:spPr>
        <p:txBody>
          <a:bodyPr wrap="square" anchor="t">
            <a:spAutoFit/>
          </a:bodyPr>
          <a:lstStyle/>
          <a:p>
            <a:pPr algn="ctr">
              <a:lnSpc>
                <a:spcPct val="115000"/>
              </a:lnSpc>
            </a:pPr>
            <a:r>
              <a:rPr sz="1300" b="0">
                <a:solidFill>
                  <a:srgbClr val="FFFFFF"/>
                </a:solidFill>
                <a:latin typeface="Nirmala UI"/>
                <a:ea typeface="Nirmala UI"/>
                <a:cs typeface="Nirmala UI"/>
              </a:rPr>
              <a:t>शेयर करें और</a:t>
            </a:r>
          </a:p>
          <a:p>
            <a:pPr algn="ctr">
              <a:lnSpc>
                <a:spcPct val="115000"/>
              </a:lnSpc>
            </a:pPr>
            <a:r>
              <a:rPr sz="1300" b="0">
                <a:solidFill>
                  <a:srgbClr val="FFFFFF"/>
                </a:solidFill>
                <a:latin typeface="Nirmala UI"/>
                <a:ea typeface="Nirmala UI"/>
                <a:cs typeface="Nirmala UI"/>
              </a:rPr>
              <a:t>नतीजे देखें</a:t>
            </a:r>
          </a:p>
        </p:txBody>
      </p:sp>
      <p:sp>
        <p:nvSpPr>
          <p:cNvPr id="25" name="Rounded Rectangle 24"/>
          <p:cNvSpPr/>
          <p:nvPr/>
        </p:nvSpPr>
        <p:spPr>
          <a:xfrm>
            <a:off x="640080" y="4846320"/>
            <a:ext cx="10927080" cy="1097280"/>
          </a:xfrm>
          <a:prstGeom prst="roundRect">
            <a:avLst>
              <a:gd name="adj" fmla="val 20000"/>
            </a:avLst>
          </a:prstGeom>
          <a:solidFill>
            <a:srgbClr val="FFFFFF"/>
          </a:solidFill>
          <a:ln w="254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200" b="1">
                <a:solidFill>
                  <a:srgbClr val="0B5D3B"/>
                </a:solidFill>
                <a:latin typeface="Nirmala UI"/>
                <a:ea typeface="Nirmala UI"/>
                <a:cs typeface="Nirmala UI"/>
              </a:rPr>
              <a:t>🔒  Google लॉगिन से सुरक्षित वोटिंग — फर्जी मतदान पर रोक</a:t>
            </a:r>
          </a:p>
        </p:txBody>
      </p:sp>
      <p:sp>
        <p:nvSpPr>
          <p:cNvPr id="26" name="Rectangle 25"/>
          <p:cNvSpPr/>
          <p:nvPr/>
        </p:nvSpPr>
        <p:spPr>
          <a:xfrm>
            <a:off x="0" y="6492240"/>
            <a:ext cx="12191695" cy="36576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510528"/>
            <a:ext cx="5486400" cy="320040"/>
          </a:xfrm>
          <a:prstGeom prst="rect">
            <a:avLst/>
          </a:prstGeom>
          <a:noFill/>
        </p:spPr>
        <p:txBody>
          <a:bodyPr wrap="square" anchor="ctr">
            <a:spAutoFit/>
          </a:bodyPr>
          <a:lstStyle/>
          <a:p>
            <a:pPr algn="l">
              <a:lnSpc>
                <a:spcPct val="115000"/>
              </a:lnSpc>
            </a:pPr>
            <a:r>
              <a:rPr sz="1100" b="1">
                <a:solidFill>
                  <a:srgbClr val="0B5D3B"/>
                </a:solidFill>
                <a:latin typeface="Nirmala UI"/>
                <a:ea typeface="Nirmala UI"/>
                <a:cs typeface="Nirmala UI"/>
              </a:rPr>
              <a:t>🗳️ JanPoll.in  |  राजस्थान की आवाज़</a:t>
            </a:r>
          </a:p>
        </p:txBody>
      </p:sp>
      <p:sp>
        <p:nvSpPr>
          <p:cNvPr id="28" name="TextBox 27"/>
          <p:cNvSpPr txBox="1"/>
          <p:nvPr/>
        </p:nvSpPr>
        <p:spPr>
          <a:xfrm>
            <a:off x="10607040" y="6510528"/>
            <a:ext cx="914400" cy="320040"/>
          </a:xfrm>
          <a:prstGeom prst="rect">
            <a:avLst/>
          </a:prstGeom>
          <a:noFill/>
        </p:spPr>
        <p:txBody>
          <a:bodyPr wrap="square" anchor="ctr">
            <a:spAutoFit/>
          </a:bodyPr>
          <a:lstStyle/>
          <a:p>
            <a:pPr algn="r">
              <a:lnSpc>
                <a:spcPct val="115000"/>
              </a:lnSpc>
            </a:pPr>
            <a:r>
              <a:rPr sz="1100" b="0">
                <a:solidFill>
                  <a:srgbClr val="6B7280"/>
                </a:solidFill>
                <a:latin typeface="Nirmala UI"/>
                <a:ea typeface="Nirmala UI"/>
                <a:cs typeface="Nirmala UI"/>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1645920"/>
            <a:ext cx="4572000" cy="4572000"/>
          </a:xfrm>
          <a:prstGeom prst="ellipse">
            <a:avLst/>
          </a:prstGeom>
          <a:solidFill>
            <a:srgbClr val="0F6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0" y="4206240"/>
            <a:ext cx="4114800" cy="4114800"/>
          </a:xfrm>
          <a:prstGeom prst="ellipse">
            <a:avLst/>
          </a:prstGeom>
          <a:solidFill>
            <a:srgbClr val="0F6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822960"/>
            <a:ext cx="12191695" cy="640080"/>
          </a:xfrm>
          <a:prstGeom prst="rect">
            <a:avLst/>
          </a:prstGeom>
          <a:noFill/>
        </p:spPr>
        <p:txBody>
          <a:bodyPr wrap="square" anchor="t">
            <a:spAutoFit/>
          </a:bodyPr>
          <a:lstStyle/>
          <a:p>
            <a:pPr algn="ctr">
              <a:lnSpc>
                <a:spcPct val="115000"/>
              </a:lnSpc>
            </a:pPr>
            <a:r>
              <a:rPr sz="2800" b="1">
                <a:solidFill>
                  <a:srgbClr val="F59E0B"/>
                </a:solidFill>
                <a:latin typeface="Nirmala UI"/>
                <a:ea typeface="Nirmala UI"/>
                <a:cs typeface="Nirmala UI"/>
              </a:rPr>
              <a:t>तो देर किस बात की?</a:t>
            </a:r>
          </a:p>
        </p:txBody>
      </p:sp>
      <p:sp>
        <p:nvSpPr>
          <p:cNvPr id="6" name="TextBox 5"/>
          <p:cNvSpPr txBox="1"/>
          <p:nvPr/>
        </p:nvSpPr>
        <p:spPr>
          <a:xfrm>
            <a:off x="0" y="1463040"/>
            <a:ext cx="12191695" cy="914400"/>
          </a:xfrm>
          <a:prstGeom prst="rect">
            <a:avLst/>
          </a:prstGeom>
          <a:noFill/>
        </p:spPr>
        <p:txBody>
          <a:bodyPr wrap="square" anchor="t">
            <a:spAutoFit/>
          </a:bodyPr>
          <a:lstStyle/>
          <a:p>
            <a:pPr algn="ctr">
              <a:lnSpc>
                <a:spcPct val="115000"/>
              </a:lnSpc>
            </a:pPr>
            <a:r>
              <a:rPr sz="5000" b="1">
                <a:solidFill>
                  <a:srgbClr val="FFFFFF"/>
                </a:solidFill>
                <a:latin typeface="Nirmala UI"/>
                <a:ea typeface="Nirmala UI"/>
                <a:cs typeface="Nirmala UI"/>
              </a:rPr>
              <a:t>आज ही विजिट करें</a:t>
            </a:r>
          </a:p>
        </p:txBody>
      </p:sp>
      <p:sp>
        <p:nvSpPr>
          <p:cNvPr id="7" name="Rounded Rectangle 6">
            <a:hlinkClick r:id="rId2"/>
          </p:cNvPr>
          <p:cNvSpPr/>
          <p:nvPr/>
        </p:nvSpPr>
        <p:spPr>
          <a:xfrm>
            <a:off x="3630168" y="2651760"/>
            <a:ext cx="4937760" cy="9144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3000" b="1">
                <a:solidFill>
                  <a:srgbClr val="0B5D3B"/>
                </a:solidFill>
                <a:latin typeface="Nirmala UI"/>
                <a:ea typeface="Nirmala UI"/>
                <a:cs typeface="Nirmala UI"/>
              </a:rPr>
              <a:t>🌐  janpoll.in</a:t>
            </a:r>
          </a:p>
        </p:txBody>
      </p:sp>
      <p:sp>
        <p:nvSpPr>
          <p:cNvPr id="8" name="Rounded Rectangle 7"/>
          <p:cNvSpPr/>
          <p:nvPr/>
        </p:nvSpPr>
        <p:spPr>
          <a:xfrm>
            <a:off x="2167128" y="3931920"/>
            <a:ext cx="2377440" cy="594360"/>
          </a:xfrm>
          <a:prstGeom prst="roundRect">
            <a:avLst>
              <a:gd name="adj" fmla="val 50000"/>
            </a:avLst>
          </a:prstGeom>
          <a:noFill/>
          <a:ln w="19050">
            <a:solidFill>
              <a:srgbClr val="7FB8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0">
                <a:solidFill>
                  <a:srgbClr val="FFFFFF"/>
                </a:solidFill>
                <a:latin typeface="Nirmala UI"/>
                <a:ea typeface="Nirmala UI"/>
                <a:cs typeface="Nirmala UI"/>
              </a:rPr>
              <a:t>🗳️ वोट दें</a:t>
            </a:r>
          </a:p>
        </p:txBody>
      </p:sp>
      <p:sp>
        <p:nvSpPr>
          <p:cNvPr id="9" name="Rounded Rectangle 8"/>
          <p:cNvSpPr/>
          <p:nvPr/>
        </p:nvSpPr>
        <p:spPr>
          <a:xfrm>
            <a:off x="4910328" y="3931920"/>
            <a:ext cx="2377440" cy="594360"/>
          </a:xfrm>
          <a:prstGeom prst="roundRect">
            <a:avLst>
              <a:gd name="adj" fmla="val 50000"/>
            </a:avLst>
          </a:prstGeom>
          <a:noFill/>
          <a:ln w="19050">
            <a:solidFill>
              <a:srgbClr val="7FB8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0">
                <a:solidFill>
                  <a:srgbClr val="FFFFFF"/>
                </a:solidFill>
                <a:latin typeface="Nirmala UI"/>
                <a:ea typeface="Nirmala UI"/>
                <a:cs typeface="Nirmala UI"/>
              </a:rPr>
              <a:t>📊 नतीजे देखें</a:t>
            </a:r>
          </a:p>
        </p:txBody>
      </p:sp>
      <p:sp>
        <p:nvSpPr>
          <p:cNvPr id="10" name="Rounded Rectangle 9"/>
          <p:cNvSpPr/>
          <p:nvPr/>
        </p:nvSpPr>
        <p:spPr>
          <a:xfrm>
            <a:off x="7653528" y="3931920"/>
            <a:ext cx="2377440" cy="594360"/>
          </a:xfrm>
          <a:prstGeom prst="roundRect">
            <a:avLst>
              <a:gd name="adj" fmla="val 50000"/>
            </a:avLst>
          </a:prstGeom>
          <a:noFill/>
          <a:ln w="19050">
            <a:solidFill>
              <a:srgbClr val="7FB8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600" b="0">
                <a:solidFill>
                  <a:srgbClr val="FFFFFF"/>
                </a:solidFill>
                <a:latin typeface="Nirmala UI"/>
                <a:ea typeface="Nirmala UI"/>
                <a:cs typeface="Nirmala UI"/>
              </a:rPr>
              <a:t>➕ पोल बनाएँ</a:t>
            </a:r>
          </a:p>
        </p:txBody>
      </p:sp>
      <p:sp>
        <p:nvSpPr>
          <p:cNvPr id="11" name="Rectangle 10"/>
          <p:cNvSpPr/>
          <p:nvPr/>
        </p:nvSpPr>
        <p:spPr>
          <a:xfrm>
            <a:off x="5550408" y="4983480"/>
            <a:ext cx="1097280"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0" y="5166360"/>
            <a:ext cx="12191695" cy="914400"/>
          </a:xfrm>
          <a:prstGeom prst="rect">
            <a:avLst/>
          </a:prstGeom>
          <a:noFill/>
        </p:spPr>
        <p:txBody>
          <a:bodyPr wrap="square" anchor="t">
            <a:spAutoFit/>
          </a:bodyPr>
          <a:lstStyle/>
          <a:p>
            <a:pPr algn="ctr">
              <a:lnSpc>
                <a:spcPct val="115000"/>
              </a:lnSpc>
            </a:pPr>
            <a:r>
              <a:rPr sz="4000" b="1">
                <a:solidFill>
                  <a:srgbClr val="FFFFFF"/>
                </a:solidFill>
                <a:latin typeface="Nirmala UI"/>
                <a:ea typeface="Nirmala UI"/>
                <a:cs typeface="Nirmala UI"/>
              </a:rPr>
              <a:t>धन्यवाद!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